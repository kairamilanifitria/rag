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10287000" cx="18288000"/>
  <p:notesSz cx="6858000" cy="9144000"/>
  <p:embeddedFontLst>
    <p:embeddedFont>
      <p:font typeface="Archivo Medium"/>
      <p:regular r:id="rId40"/>
      <p:bold r:id="rId41"/>
      <p:italic r:id="rId42"/>
      <p:boldItalic r:id="rId43"/>
    </p:embeddedFont>
    <p:embeddedFont>
      <p:font typeface="Archivo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8" roundtripDataSignature="AMtx7miurWWEIdA28W/4Nj15ZBapXNMT0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TemuDataku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chivoMedium-regular.fntdata"/><Relationship Id="rId20" Type="http://schemas.openxmlformats.org/officeDocument/2006/relationships/slide" Target="slides/slide14.xml"/><Relationship Id="rId42" Type="http://schemas.openxmlformats.org/officeDocument/2006/relationships/font" Target="fonts/ArchivoMedium-italic.fntdata"/><Relationship Id="rId41" Type="http://schemas.openxmlformats.org/officeDocument/2006/relationships/font" Target="fonts/ArchivoMedium-bold.fntdata"/><Relationship Id="rId22" Type="http://schemas.openxmlformats.org/officeDocument/2006/relationships/slide" Target="slides/slide16.xml"/><Relationship Id="rId44" Type="http://schemas.openxmlformats.org/officeDocument/2006/relationships/font" Target="fonts/Archivo-regular.fntdata"/><Relationship Id="rId21" Type="http://schemas.openxmlformats.org/officeDocument/2006/relationships/slide" Target="slides/slide15.xml"/><Relationship Id="rId43" Type="http://schemas.openxmlformats.org/officeDocument/2006/relationships/font" Target="fonts/ArchivoMedium-boldItalic.fntdata"/><Relationship Id="rId24" Type="http://schemas.openxmlformats.org/officeDocument/2006/relationships/slide" Target="slides/slide18.xml"/><Relationship Id="rId46" Type="http://schemas.openxmlformats.org/officeDocument/2006/relationships/font" Target="fonts/Archivo-italic.fntdata"/><Relationship Id="rId23" Type="http://schemas.openxmlformats.org/officeDocument/2006/relationships/slide" Target="slides/slide17.xml"/><Relationship Id="rId45" Type="http://schemas.openxmlformats.org/officeDocument/2006/relationships/font" Target="fonts/Archiv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customschemas.google.com/relationships/presentationmetadata" Target="metadata"/><Relationship Id="rId25" Type="http://schemas.openxmlformats.org/officeDocument/2006/relationships/slide" Target="slides/slide19.xml"/><Relationship Id="rId47" Type="http://schemas.openxmlformats.org/officeDocument/2006/relationships/font" Target="fonts/Archivo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9-22T13:08:00.521">
    <p:pos x="6000" y="0"/>
    <p:text>Minta tolong setelah slide ini ditambahkan slide breaktime yaa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r2jIkI0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dd2a721f6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g37dd2a721f6_0_2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f0f7f59b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Tableau adalah salah satu tools paling populer untuk visualisasi data. Dengan Tableau, kita bisa mengubah data mentah menjadi visualisasi yang mudah dipahami.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Dengan visualisasi dan dashboard interaktif, pengguna bisa menemukan insight yang relevan, misalnya tren penjualan, pola pelanggan, atau potensi risiko. Insight inilah yang jadi dasar pengambilan keputusan.</a:t>
            </a:r>
            <a:endParaRPr/>
          </a:p>
        </p:txBody>
      </p:sp>
      <p:sp>
        <p:nvSpPr>
          <p:cNvPr id="148" name="Google Shape;148;g37f0f7f59b4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7f0f7f59b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Nah, Tableau sebagai data visualization tools mempunyai banyak manfaat, sbb: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Menganalisa data histori dari sebuah bisnis, yg mana kita bisa menemukan gimana pola nya, manfaatnya? salah satunya untuk membuat future prediction untuk memecahkan masalah.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Tableau mempunyai fitur yaitu Query, yang memudahkan kita mengidentifikasi masalah dari data yang kita punya.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Overall, fitur-fitur tableau pada akhirnya bertujuan satu yaitu menyelsaikan masalah.</a:t>
            </a:r>
            <a:endParaRPr/>
          </a:p>
        </p:txBody>
      </p:sp>
      <p:sp>
        <p:nvSpPr>
          <p:cNvPr id="164" name="Google Shape;164;g37f0f7f59b4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dd2a721f6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Data tersebar di mana-mana dan merupakan aset berharga.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Namun data mentah sering kali abstrak.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Melalui analisis, data → insight → action untuk memecahkan masalah.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contohnya: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Data</a:t>
            </a:r>
            <a:r>
              <a:rPr lang="en-US">
                <a:solidFill>
                  <a:schemeClr val="dk1"/>
                </a:solidFill>
              </a:rPr>
              <a:t>: Log pembelian dari e-commerce (produk, harga, waktu transaksi).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Insight</a:t>
            </a:r>
            <a:r>
              <a:rPr lang="en-US">
                <a:solidFill>
                  <a:schemeClr val="dk1"/>
                </a:solidFill>
              </a:rPr>
              <a:t>: Pelanggan lebih sering belanja saat weekend, produk diskon paling laku.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Action</a:t>
            </a:r>
            <a:r>
              <a:rPr lang="en-US">
                <a:solidFill>
                  <a:schemeClr val="dk1"/>
                </a:solidFill>
              </a:rPr>
              <a:t>: Tingkatkan promo di weekend, optimalkan stok produk diskon.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7dd2a721f6_0_1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7f0f7f59b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Data tersebar di mana-mana dan merupakan aset berharga.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Namun data mentah sering kali abstrak.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Melalui analisis, data → insight → action untuk memecahkan masalah.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contohnya: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Data</a:t>
            </a:r>
            <a:r>
              <a:rPr lang="en-US">
                <a:solidFill>
                  <a:schemeClr val="dk1"/>
                </a:solidFill>
              </a:rPr>
              <a:t>: Log pembelian dari e-commerce (produk, harga, waktu transaksi).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Insight</a:t>
            </a:r>
            <a:r>
              <a:rPr lang="en-US">
                <a:solidFill>
                  <a:schemeClr val="dk1"/>
                </a:solidFill>
              </a:rPr>
              <a:t>: Pelanggan lebih sering belanja saat weekend, produk diskon paling laku.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Action</a:t>
            </a:r>
            <a:r>
              <a:rPr lang="en-US">
                <a:solidFill>
                  <a:schemeClr val="dk1"/>
                </a:solidFill>
              </a:rPr>
              <a:t>: Tingkatkan promo di weekend, optimalkan stok produk diskon.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g37f0f7f59b4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7f0f7f59b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solidFill>
                  <a:schemeClr val="dk1"/>
                </a:solidFill>
              </a:rPr>
              <a:t>Tableau memudahkan penemuan dan eksplorasi data</a:t>
            </a:r>
            <a:r>
              <a:rPr lang="en-US" sz="1200">
                <a:solidFill>
                  <a:schemeClr val="dk1"/>
                </a:solidFill>
              </a:rPr>
              <a:t> sehingga pengguna bisa menemukan jawaban dari pertanyaan penting hanya dalam hitungan detik.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solidFill>
                  <a:schemeClr val="dk1"/>
                </a:solidFill>
              </a:rPr>
              <a:t>Tidak perlu kemampuan pemrograman</a:t>
            </a:r>
            <a:r>
              <a:rPr lang="en-US" sz="1200">
                <a:solidFill>
                  <a:schemeClr val="dk1"/>
                </a:solidFill>
              </a:rPr>
              <a:t>: bahkan pengguna tanpa pengalaman teknis bisa langsung membuat visualisasi interaktif.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solidFill>
                  <a:schemeClr val="dk1"/>
                </a:solidFill>
              </a:rPr>
              <a:t>Mendukung banyak sumber data:</a:t>
            </a:r>
            <a:r>
              <a:rPr lang="en-US" sz="1200">
                <a:solidFill>
                  <a:schemeClr val="dk1"/>
                </a:solidFill>
              </a:rPr>
              <a:t> Tableau dapat terhubung ke berbagai sumber (CSV, Excel, SQL, dsb.), termasuk yang tidak didukung oleh alat BI lain, serta memungkinkan penggabungan beberapa set data dalam satu laporan.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solidFill>
                  <a:schemeClr val="dk1"/>
                </a:solidFill>
              </a:rPr>
              <a:t>Tableau Server</a:t>
            </a:r>
            <a:r>
              <a:rPr lang="en-US" sz="1200">
                <a:solidFill>
                  <a:schemeClr val="dk1"/>
                </a:solidFill>
              </a:rPr>
              <a:t> menyediakan lokasi terpusat untuk mengelola semua sumber data yang dipublikasikan di dalam organisasi.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</p:txBody>
      </p:sp>
      <p:sp>
        <p:nvSpPr>
          <p:cNvPr id="206" name="Google Shape;206;g37f0f7f59b4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7f1f15e37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g37f1f15e37f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8a5f69998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Data tersebar di mana-mana dan merupakan aset berharga.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Namun data mentah sering kali abstrak.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Melalui analisis, data → insight → action untuk memecahkan masalah.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contohnya: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Data</a:t>
            </a:r>
            <a:r>
              <a:rPr lang="en-US">
                <a:solidFill>
                  <a:schemeClr val="dk1"/>
                </a:solidFill>
              </a:rPr>
              <a:t>: Log pembelian dari e-commerce (produk, harga, waktu transaksi).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Insight</a:t>
            </a:r>
            <a:r>
              <a:rPr lang="en-US">
                <a:solidFill>
                  <a:schemeClr val="dk1"/>
                </a:solidFill>
              </a:rPr>
              <a:t>: Pelanggan lebih sering belanja saat weekend, produk diskon paling laku.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Action</a:t>
            </a:r>
            <a:r>
              <a:rPr lang="en-US">
                <a:solidFill>
                  <a:schemeClr val="dk1"/>
                </a:solidFill>
              </a:rPr>
              <a:t>: Tingkatkan promo di weekend, optimalkan stok produk diskon.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g38a5f699984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888588e0da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g3888588e0da_0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7f1f15e37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" name="Google Shape;269;g37f1f15e37f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7f1f15e37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g37f1f15e37f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7f1f15e37f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4" name="Google Shape;294;g37f1f15e37f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8a5f69998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Data tersebar di mana-mana dan merupakan aset berharga.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Namun data mentah sering kali abstrak.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Melalui analisis, data → insight → action untuk memecahkan masalah.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contohnya: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Data</a:t>
            </a:r>
            <a:r>
              <a:rPr lang="en-US">
                <a:solidFill>
                  <a:schemeClr val="dk1"/>
                </a:solidFill>
              </a:rPr>
              <a:t>: Log pembelian dari e-commerce (produk, harga, waktu transaksi).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Insight</a:t>
            </a:r>
            <a:r>
              <a:rPr lang="en-US">
                <a:solidFill>
                  <a:schemeClr val="dk1"/>
                </a:solidFill>
              </a:rPr>
              <a:t>: Pelanggan lebih sering belanja saat weekend, produk diskon paling laku.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Action</a:t>
            </a:r>
            <a:r>
              <a:rPr lang="en-US">
                <a:solidFill>
                  <a:schemeClr val="dk1"/>
                </a:solidFill>
              </a:rPr>
              <a:t>: Tingkatkan promo di weekend, optimalkan stok produk diskon.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5" name="Google Shape;305;g38a5f699984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7f1f15e37f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4" name="Google Shape;314;g37f1f15e37f_0_1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7f1f15e37f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4" name="Google Shape;324;g37f1f15e37f_0_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7f1f15e37f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Data tersebar di mana-mana dan merupakan aset berharga.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Namun data mentah sering kali abstrak.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Melalui analisis, data → insight → action untuk memecahkan masalah.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contohnya: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Data</a:t>
            </a:r>
            <a:r>
              <a:rPr lang="en-US">
                <a:solidFill>
                  <a:schemeClr val="dk1"/>
                </a:solidFill>
              </a:rPr>
              <a:t>: Log pembelian dari e-commerce (produk, harga, waktu transaksi).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Insight</a:t>
            </a:r>
            <a:r>
              <a:rPr lang="en-US">
                <a:solidFill>
                  <a:schemeClr val="dk1"/>
                </a:solidFill>
              </a:rPr>
              <a:t>: Pelanggan lebih sering belanja saat weekend, produk diskon paling laku.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Action</a:t>
            </a:r>
            <a:r>
              <a:rPr lang="en-US">
                <a:solidFill>
                  <a:schemeClr val="dk1"/>
                </a:solidFill>
              </a:rPr>
              <a:t>: Tingkatkan promo di weekend, optimalkan stok produk diskon.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4" name="Google Shape;334;g37f1f15e37f_0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7f1f15e37f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5" name="Google Shape;345;g37f1f15e37f_0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7f1f15e37f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6" name="Google Shape;356;g37f1f15e37f_0_1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7f1f15e37f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6" name="Google Shape;366;g37f1f15e37f_0_1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7f1f15e37f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7" name="Google Shape;377;g37f1f15e37f_0_1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7f1f15e37f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8" name="Google Shape;388;g37f1f15e37f_0_1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7f1f15e37f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Data tersebar di mana-mana dan merupakan aset berharga.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Namun data mentah sering kali abstrak.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Melalui analisis, data → insight → action untuk memecahkan masalah.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contohnya: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Data</a:t>
            </a:r>
            <a:r>
              <a:rPr lang="en-US">
                <a:solidFill>
                  <a:schemeClr val="dk1"/>
                </a:solidFill>
              </a:rPr>
              <a:t>: Log pembelian dari e-commerce (produk, harga, waktu transaksi).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Insight</a:t>
            </a:r>
            <a:r>
              <a:rPr lang="en-US">
                <a:solidFill>
                  <a:schemeClr val="dk1"/>
                </a:solidFill>
              </a:rPr>
              <a:t>: Pelanggan lebih sering belanja saat weekend, produk diskon paling laku.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Action</a:t>
            </a:r>
            <a:r>
              <a:rPr lang="en-US">
                <a:solidFill>
                  <a:schemeClr val="dk1"/>
                </a:solidFill>
              </a:rPr>
              <a:t>: Tingkatkan promo di weekend, optimalkan stok produk diskon.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9" name="Google Shape;399;g37f1f15e37f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1" name="Google Shape;41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8367142d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6" name="Google Shape;436;g38367142d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7f1f15e37f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Data tersebar di mana-mana dan merupakan aset berharga.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Namun data mentah sering kali abstrak.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Melalui analisis, data → insight → action untuk memecahkan masalah.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contohnya: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Data</a:t>
            </a:r>
            <a:r>
              <a:rPr lang="en-US">
                <a:solidFill>
                  <a:schemeClr val="dk1"/>
                </a:solidFill>
              </a:rPr>
              <a:t>: Log pembelian dari e-commerce (produk, harga, waktu transaksi).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Insight</a:t>
            </a:r>
            <a:r>
              <a:rPr lang="en-US">
                <a:solidFill>
                  <a:schemeClr val="dk1"/>
                </a:solidFill>
              </a:rPr>
              <a:t>: Pelanggan lebih sering belanja saat weekend, produk diskon paling laku.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Action</a:t>
            </a:r>
            <a:r>
              <a:rPr lang="en-US">
                <a:solidFill>
                  <a:schemeClr val="dk1"/>
                </a:solidFill>
              </a:rPr>
              <a:t>: Tingkatkan promo di weekend, optimalkan stok produk diskon.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0" name="Google Shape;460;g37f1f15e37f_0_2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7f1f15e37f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Data tersebar di mana-mana dan merupakan aset berharga.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Namun data mentah sering kali abstrak.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Melalui analisis, data → insight → action untuk memecahkan masalah.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contohnya: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Data</a:t>
            </a:r>
            <a:r>
              <a:rPr lang="en-US">
                <a:solidFill>
                  <a:schemeClr val="dk1"/>
                </a:solidFill>
              </a:rPr>
              <a:t>: Log pembelian dari e-commerce (produk, harga, waktu transaksi).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Insight</a:t>
            </a:r>
            <a:r>
              <a:rPr lang="en-US">
                <a:solidFill>
                  <a:schemeClr val="dk1"/>
                </a:solidFill>
              </a:rPr>
              <a:t>: Pelanggan lebih sering belanja saat weekend, produk diskon paling laku.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Action</a:t>
            </a:r>
            <a:r>
              <a:rPr lang="en-US">
                <a:solidFill>
                  <a:schemeClr val="dk1"/>
                </a:solidFill>
              </a:rPr>
              <a:t>: Tingkatkan promo di weekend, optimalkan stok produk diskon.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8" name="Google Shape;468;g37f1f15e37f_0_2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7f1f15e37f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Data tersebar di mana-mana dan merupakan aset berharga.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Namun data mentah sering kali abstrak.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Melalui analisis, data → insight → action untuk memecahkan masalah.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contohnya: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Data</a:t>
            </a:r>
            <a:r>
              <a:rPr lang="en-US">
                <a:solidFill>
                  <a:schemeClr val="dk1"/>
                </a:solidFill>
              </a:rPr>
              <a:t>: Log pembelian dari e-commerce (produk, harga, waktu transaksi).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Insight</a:t>
            </a:r>
            <a:r>
              <a:rPr lang="en-US">
                <a:solidFill>
                  <a:schemeClr val="dk1"/>
                </a:solidFill>
              </a:rPr>
              <a:t>: Pelanggan lebih sering belanja saat weekend, produk diskon paling laku.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Action</a:t>
            </a:r>
            <a:r>
              <a:rPr lang="en-US">
                <a:solidFill>
                  <a:schemeClr val="dk1"/>
                </a:solidFill>
              </a:rPr>
              <a:t>: Tingkatkan promo di weekend, optimalkan stok produk diskon.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6" name="Google Shape;476;g37f1f15e37f_0_2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7f1f15e37f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Data tersebar di mana-mana dan merupakan aset berharga.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Namun data mentah sering kali abstrak.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Melalui analisis, data → insight → action untuk memecahkan masalah.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contohnya: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Data</a:t>
            </a:r>
            <a:r>
              <a:rPr lang="en-US">
                <a:solidFill>
                  <a:schemeClr val="dk1"/>
                </a:solidFill>
              </a:rPr>
              <a:t>: Log pembelian dari e-commerce (produk, harga, waktu transaksi).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Insight</a:t>
            </a:r>
            <a:r>
              <a:rPr lang="en-US">
                <a:solidFill>
                  <a:schemeClr val="dk1"/>
                </a:solidFill>
              </a:rPr>
              <a:t>: Pelanggan lebih sering belanja saat weekend, produk diskon paling laku.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Action</a:t>
            </a:r>
            <a:r>
              <a:rPr lang="en-US">
                <a:solidFill>
                  <a:schemeClr val="dk1"/>
                </a:solidFill>
              </a:rPr>
              <a:t>: Tingkatkan promo di weekend, optimalkan stok produk diskon.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4" name="Google Shape;484;g37f1f15e37f_0_2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2" name="Google Shape;49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4" name="Google Shape;51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11" Type="http://schemas.openxmlformats.org/officeDocument/2006/relationships/image" Target="../media/image20.png"/><Relationship Id="rId10" Type="http://schemas.openxmlformats.org/officeDocument/2006/relationships/image" Target="../media/image4.png"/><Relationship Id="rId9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3.png"/><Relationship Id="rId8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24.png"/><Relationship Id="rId5" Type="http://schemas.openxmlformats.org/officeDocument/2006/relationships/image" Target="../media/image11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4.png"/><Relationship Id="rId6" Type="http://schemas.openxmlformats.org/officeDocument/2006/relationships/image" Target="../media/image4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44.png"/><Relationship Id="rId5" Type="http://schemas.openxmlformats.org/officeDocument/2006/relationships/image" Target="../media/image20.png"/><Relationship Id="rId6" Type="http://schemas.openxmlformats.org/officeDocument/2006/relationships/image" Target="../media/image3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4.png"/><Relationship Id="rId6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4.png"/><Relationship Id="rId6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4.png"/><Relationship Id="rId6" Type="http://schemas.openxmlformats.org/officeDocument/2006/relationships/image" Target="../media/image4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4.png"/><Relationship Id="rId6" Type="http://schemas.openxmlformats.org/officeDocument/2006/relationships/image" Target="../media/image36.png"/><Relationship Id="rId7" Type="http://schemas.openxmlformats.org/officeDocument/2006/relationships/hyperlink" Target="https://www.geeksforgeeks.org/tableau/tableau-installation-guide/" TargetMode="External"/><Relationship Id="rId8" Type="http://schemas.openxmlformats.org/officeDocument/2006/relationships/hyperlink" Target="https://www.geeksforgeeks.org/tableau/tableau-tutorial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4.png"/><Relationship Id="rId5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4.png"/><Relationship Id="rId5" Type="http://schemas.openxmlformats.org/officeDocument/2006/relationships/image" Target="../media/image29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Relationship Id="rId4" Type="http://schemas.openxmlformats.org/officeDocument/2006/relationships/image" Target="../media/image4.png"/><Relationship Id="rId5" Type="http://schemas.openxmlformats.org/officeDocument/2006/relationships/image" Target="../media/image30.png"/><Relationship Id="rId6" Type="http://schemas.openxmlformats.org/officeDocument/2006/relationships/image" Target="../media/image43.png"/><Relationship Id="rId7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Relationship Id="rId4" Type="http://schemas.openxmlformats.org/officeDocument/2006/relationships/image" Target="../media/image4.png"/><Relationship Id="rId5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Relationship Id="rId4" Type="http://schemas.openxmlformats.org/officeDocument/2006/relationships/image" Target="../media/image4.png"/><Relationship Id="rId5" Type="http://schemas.openxmlformats.org/officeDocument/2006/relationships/image" Target="../media/image3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Relationship Id="rId4" Type="http://schemas.openxmlformats.org/officeDocument/2006/relationships/image" Target="../media/image4.png"/><Relationship Id="rId5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Relationship Id="rId4" Type="http://schemas.openxmlformats.org/officeDocument/2006/relationships/image" Target="../media/image4.png"/><Relationship Id="rId5" Type="http://schemas.openxmlformats.org/officeDocument/2006/relationships/image" Target="../media/image38.png"/><Relationship Id="rId6" Type="http://schemas.openxmlformats.org/officeDocument/2006/relationships/image" Target="../media/image3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Relationship Id="rId4" Type="http://schemas.openxmlformats.org/officeDocument/2006/relationships/image" Target="../media/image4.png"/><Relationship Id="rId5" Type="http://schemas.openxmlformats.org/officeDocument/2006/relationships/image" Target="../media/image4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Relationship Id="rId4" Type="http://schemas.openxmlformats.org/officeDocument/2006/relationships/image" Target="../media/image4.png"/><Relationship Id="rId5" Type="http://schemas.openxmlformats.org/officeDocument/2006/relationships/image" Target="../media/image48.png"/><Relationship Id="rId6" Type="http://schemas.openxmlformats.org/officeDocument/2006/relationships/image" Target="../media/image5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Relationship Id="rId4" Type="http://schemas.openxmlformats.org/officeDocument/2006/relationships/image" Target="../media/image4.png"/><Relationship Id="rId5" Type="http://schemas.openxmlformats.org/officeDocument/2006/relationships/image" Target="../media/image41.png"/><Relationship Id="rId6" Type="http://schemas.openxmlformats.org/officeDocument/2006/relationships/image" Target="../media/image7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Relationship Id="rId4" Type="http://schemas.openxmlformats.org/officeDocument/2006/relationships/image" Target="../media/image4.png"/><Relationship Id="rId5" Type="http://schemas.openxmlformats.org/officeDocument/2006/relationships/image" Target="../media/image53.png"/><Relationship Id="rId6" Type="http://schemas.openxmlformats.org/officeDocument/2006/relationships/image" Target="../media/image5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comments" Target="../comments/comment1.xml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20" Type="http://schemas.openxmlformats.org/officeDocument/2006/relationships/image" Target="../media/image63.png"/><Relationship Id="rId11" Type="http://schemas.openxmlformats.org/officeDocument/2006/relationships/image" Target="../media/image56.png"/><Relationship Id="rId10" Type="http://schemas.openxmlformats.org/officeDocument/2006/relationships/image" Target="../media/image55.png"/><Relationship Id="rId13" Type="http://schemas.openxmlformats.org/officeDocument/2006/relationships/image" Target="../media/image54.png"/><Relationship Id="rId1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9" Type="http://schemas.openxmlformats.org/officeDocument/2006/relationships/image" Target="../media/image52.png"/><Relationship Id="rId15" Type="http://schemas.openxmlformats.org/officeDocument/2006/relationships/image" Target="../media/image58.png"/><Relationship Id="rId14" Type="http://schemas.openxmlformats.org/officeDocument/2006/relationships/image" Target="../media/image64.png"/><Relationship Id="rId17" Type="http://schemas.openxmlformats.org/officeDocument/2006/relationships/image" Target="../media/image77.png"/><Relationship Id="rId16" Type="http://schemas.openxmlformats.org/officeDocument/2006/relationships/image" Target="../media/image60.png"/><Relationship Id="rId5" Type="http://schemas.openxmlformats.org/officeDocument/2006/relationships/image" Target="../media/image45.png"/><Relationship Id="rId19" Type="http://schemas.openxmlformats.org/officeDocument/2006/relationships/image" Target="../media/image62.png"/><Relationship Id="rId6" Type="http://schemas.openxmlformats.org/officeDocument/2006/relationships/image" Target="../media/image46.png"/><Relationship Id="rId18" Type="http://schemas.openxmlformats.org/officeDocument/2006/relationships/image" Target="../media/image61.png"/><Relationship Id="rId7" Type="http://schemas.openxmlformats.org/officeDocument/2006/relationships/image" Target="../media/image47.png"/><Relationship Id="rId8" Type="http://schemas.openxmlformats.org/officeDocument/2006/relationships/image" Target="../media/image50.png"/></Relationships>
</file>

<file path=ppt/slides/_rels/slide27.xml.rels><?xml version="1.0" encoding="UTF-8" standalone="yes"?><Relationships xmlns="http://schemas.openxmlformats.org/package/2006/relationships"><Relationship Id="rId20" Type="http://schemas.openxmlformats.org/officeDocument/2006/relationships/image" Target="../media/image63.png"/><Relationship Id="rId11" Type="http://schemas.openxmlformats.org/officeDocument/2006/relationships/image" Target="../media/image56.png"/><Relationship Id="rId10" Type="http://schemas.openxmlformats.org/officeDocument/2006/relationships/image" Target="../media/image55.png"/><Relationship Id="rId13" Type="http://schemas.openxmlformats.org/officeDocument/2006/relationships/image" Target="../media/image54.png"/><Relationship Id="rId1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9" Type="http://schemas.openxmlformats.org/officeDocument/2006/relationships/image" Target="../media/image52.png"/><Relationship Id="rId15" Type="http://schemas.openxmlformats.org/officeDocument/2006/relationships/image" Target="../media/image58.png"/><Relationship Id="rId14" Type="http://schemas.openxmlformats.org/officeDocument/2006/relationships/image" Target="../media/image64.png"/><Relationship Id="rId17" Type="http://schemas.openxmlformats.org/officeDocument/2006/relationships/image" Target="../media/image77.png"/><Relationship Id="rId16" Type="http://schemas.openxmlformats.org/officeDocument/2006/relationships/image" Target="../media/image60.png"/><Relationship Id="rId5" Type="http://schemas.openxmlformats.org/officeDocument/2006/relationships/image" Target="../media/image45.png"/><Relationship Id="rId19" Type="http://schemas.openxmlformats.org/officeDocument/2006/relationships/image" Target="../media/image62.png"/><Relationship Id="rId6" Type="http://schemas.openxmlformats.org/officeDocument/2006/relationships/image" Target="../media/image46.png"/><Relationship Id="rId18" Type="http://schemas.openxmlformats.org/officeDocument/2006/relationships/image" Target="../media/image61.png"/><Relationship Id="rId7" Type="http://schemas.openxmlformats.org/officeDocument/2006/relationships/image" Target="../media/image47.png"/><Relationship Id="rId8" Type="http://schemas.openxmlformats.org/officeDocument/2006/relationships/image" Target="../media/image5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Relationship Id="rId4" Type="http://schemas.openxmlformats.org/officeDocument/2006/relationships/image" Target="../media/image4.png"/><Relationship Id="rId5" Type="http://schemas.openxmlformats.org/officeDocument/2006/relationships/hyperlink" Target="https://drive.google.com/file/d/1LP6IAyxq68lgOPYoLHTNGEHutEtxRabM/view?usp=sharing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8.png"/><Relationship Id="rId4" Type="http://schemas.openxmlformats.org/officeDocument/2006/relationships/image" Target="../media/image66.png"/><Relationship Id="rId9" Type="http://schemas.openxmlformats.org/officeDocument/2006/relationships/image" Target="../media/image76.png"/><Relationship Id="rId5" Type="http://schemas.openxmlformats.org/officeDocument/2006/relationships/image" Target="../media/image67.png"/><Relationship Id="rId6" Type="http://schemas.openxmlformats.org/officeDocument/2006/relationships/image" Target="../media/image71.png"/><Relationship Id="rId7" Type="http://schemas.openxmlformats.org/officeDocument/2006/relationships/image" Target="../media/image69.png"/><Relationship Id="rId8" Type="http://schemas.openxmlformats.org/officeDocument/2006/relationships/image" Target="../media/image7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0.png"/><Relationship Id="rId4" Type="http://schemas.openxmlformats.org/officeDocument/2006/relationships/image" Target="../media/image74.png"/><Relationship Id="rId5" Type="http://schemas.openxmlformats.org/officeDocument/2006/relationships/image" Target="../media/image73.png"/><Relationship Id="rId6" Type="http://schemas.openxmlformats.org/officeDocument/2006/relationships/image" Target="../media/image4.png"/><Relationship Id="rId7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873500" y="-228600"/>
            <a:ext cx="15443200" cy="110109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939800" y="1968500"/>
            <a:ext cx="10464900" cy="54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71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Arial"/>
              <a:buNone/>
            </a:pPr>
            <a:r>
              <a:rPr b="1" lang="en-US" sz="12400">
                <a:solidFill>
                  <a:srgbClr val="3A3685"/>
                </a:solidFill>
                <a:latin typeface="Archivo"/>
                <a:ea typeface="Archivo"/>
                <a:cs typeface="Archivo"/>
                <a:sym typeface="Archivo"/>
              </a:rPr>
              <a:t>Tableau Fundamental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016000" y="7607300"/>
            <a:ext cx="91185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55536E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Nama Mentor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480000">
            <a:off x="11633200" y="-2730500"/>
            <a:ext cx="8991600" cy="919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0925" y="9080500"/>
            <a:ext cx="16796277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1155700" y="9321800"/>
            <a:ext cx="20700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Social Media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102600" y="9359900"/>
            <a:ext cx="42926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TemuDataku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10740000">
            <a:off x="14770100" y="6819900"/>
            <a:ext cx="4203700" cy="449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59300" y="9283700"/>
            <a:ext cx="558800" cy="5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86200" y="9283700"/>
            <a:ext cx="558800" cy="5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46700" y="9563100"/>
            <a:ext cx="2476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-215900" y="-635000"/>
            <a:ext cx="270510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" title="Tableau-Logo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39800" y="5332225"/>
            <a:ext cx="4331377" cy="243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g37dd2a721f6_0_2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49300" y="8724900"/>
            <a:ext cx="2349500" cy="234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g37dd2a721f6_0_2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7000" y="-1079500"/>
            <a:ext cx="18541999" cy="661670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37dd2a721f6_0_261"/>
          <p:cNvSpPr txBox="1"/>
          <p:nvPr/>
        </p:nvSpPr>
        <p:spPr>
          <a:xfrm>
            <a:off x="2133600" y="1631850"/>
            <a:ext cx="117729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1" i="0" lang="en-US" sz="7200" u="none" cap="none" strike="noStrike">
                <a:solidFill>
                  <a:srgbClr val="3A3685"/>
                </a:solidFill>
                <a:latin typeface="Archivo"/>
                <a:ea typeface="Archivo"/>
                <a:cs typeface="Archivo"/>
                <a:sym typeface="Archivo"/>
              </a:rPr>
              <a:t>(Nama Pembicara)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g37dd2a721f6_0_2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373600" y="6807200"/>
            <a:ext cx="1549400" cy="154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7dd2a721f6_0_261"/>
          <p:cNvSpPr txBox="1"/>
          <p:nvPr/>
        </p:nvSpPr>
        <p:spPr>
          <a:xfrm>
            <a:off x="9892625" y="4557400"/>
            <a:ext cx="65727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Tahun - Posisi Pekerjaan (Terbaru diatas)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7dd2a721f6_0_261"/>
          <p:cNvSpPr txBox="1"/>
          <p:nvPr/>
        </p:nvSpPr>
        <p:spPr>
          <a:xfrm>
            <a:off x="2133600" y="3143250"/>
            <a:ext cx="6934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55536E"/>
                </a:solidFill>
                <a:latin typeface="Archivo"/>
                <a:ea typeface="Archivo"/>
                <a:cs typeface="Archivo"/>
                <a:sym typeface="Archivo"/>
              </a:rPr>
              <a:t>Profil Pembicara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g37dd2a721f6_0_2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215900" y="-635000"/>
            <a:ext cx="27051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7dd2a721f6_0_261"/>
          <p:cNvSpPr/>
          <p:nvPr/>
        </p:nvSpPr>
        <p:spPr>
          <a:xfrm>
            <a:off x="2133600" y="8461150"/>
            <a:ext cx="4074732" cy="787374"/>
          </a:xfrm>
          <a:prstGeom prst="flowChartTerminator">
            <a:avLst/>
          </a:prstGeom>
          <a:solidFill>
            <a:srgbClr val="38AF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Mentor Temudataku</a:t>
            </a:r>
            <a:endParaRPr b="0" i="0" sz="2400" u="none" cap="none" strike="noStrike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09" name="Google Shape;109;g37dd2a721f6_0_2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67800" y="445585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37dd2a721f6_0_2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67800" y="605605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7dd2a721f6_0_2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67800" y="76562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7dd2a721f6_0_261"/>
          <p:cNvSpPr/>
          <p:nvPr/>
        </p:nvSpPr>
        <p:spPr>
          <a:xfrm>
            <a:off x="9302500" y="5159500"/>
            <a:ext cx="47700" cy="787500"/>
          </a:xfrm>
          <a:prstGeom prst="rect">
            <a:avLst/>
          </a:prstGeom>
          <a:solidFill>
            <a:srgbClr val="38AF69"/>
          </a:solidFill>
          <a:ln cap="flat" cmpd="sng" w="9525">
            <a:solidFill>
              <a:srgbClr val="38A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7dd2a721f6_0_261"/>
          <p:cNvSpPr/>
          <p:nvPr/>
        </p:nvSpPr>
        <p:spPr>
          <a:xfrm>
            <a:off x="9302500" y="6759700"/>
            <a:ext cx="47700" cy="787500"/>
          </a:xfrm>
          <a:prstGeom prst="rect">
            <a:avLst/>
          </a:prstGeom>
          <a:solidFill>
            <a:srgbClr val="38AF69"/>
          </a:solidFill>
          <a:ln cap="flat" cmpd="sng" w="9525">
            <a:solidFill>
              <a:srgbClr val="38A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7dd2a721f6_0_261"/>
          <p:cNvSpPr txBox="1"/>
          <p:nvPr/>
        </p:nvSpPr>
        <p:spPr>
          <a:xfrm>
            <a:off x="9816425" y="6157600"/>
            <a:ext cx="6572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Tahun - Posisi Pekerjaan (Terbaru diatas)</a:t>
            </a:r>
            <a:endParaRPr b="0" i="0" sz="28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5" name="Google Shape;115;g37dd2a721f6_0_261"/>
          <p:cNvSpPr txBox="1"/>
          <p:nvPr/>
        </p:nvSpPr>
        <p:spPr>
          <a:xfrm>
            <a:off x="9816425" y="7757800"/>
            <a:ext cx="65727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Tahun - Posisi Pekerjaan (Terbaru diatas)</a:t>
            </a:r>
            <a:endParaRPr b="0" i="0" sz="28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16" name="Google Shape;116;g37dd2a721f6_0_26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55900" y="4521200"/>
            <a:ext cx="3009900" cy="3251200"/>
          </a:xfrm>
          <a:prstGeom prst="rect">
            <a:avLst/>
          </a:prstGeom>
          <a:noFill/>
          <a:ln>
            <a:noFill/>
          </a:ln>
          <a:effectLst>
            <a:outerShdw blurRad="50832" dir="2700000" dist="34757">
              <a:srgbClr val="000000">
                <a:alpha val="49019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5600" y="0"/>
            <a:ext cx="9042400" cy="10287000"/>
          </a:xfrm>
          <a:prstGeom prst="rect">
            <a:avLst/>
          </a:prstGeom>
          <a:noFill/>
          <a:ln>
            <a:noFill/>
          </a:ln>
          <a:effectLst>
            <a:outerShdw blurRad="813197" dir="2700000" dist="834109">
              <a:srgbClr val="000000">
                <a:alpha val="49019"/>
              </a:srgbClr>
            </a:outerShdw>
          </a:effectLst>
        </p:spPr>
      </p:pic>
      <p:pic>
        <p:nvPicPr>
          <p:cNvPr id="122" name="Google Shape;12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0" y="1346200"/>
            <a:ext cx="6172200" cy="7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"/>
          <p:cNvSpPr txBox="1"/>
          <p:nvPr/>
        </p:nvSpPr>
        <p:spPr>
          <a:xfrm>
            <a:off x="876300" y="1320800"/>
            <a:ext cx="8445500" cy="12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293A78"/>
                </a:solidFill>
                <a:latin typeface="Archivo"/>
                <a:ea typeface="Archivo"/>
                <a:cs typeface="Archivo"/>
                <a:sym typeface="Archivo"/>
              </a:rPr>
              <a:t>Table of Contents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1100" y="3213100"/>
            <a:ext cx="292100" cy="29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3"/>
          <p:cNvSpPr txBox="1"/>
          <p:nvPr/>
        </p:nvSpPr>
        <p:spPr>
          <a:xfrm>
            <a:off x="1676400" y="3162300"/>
            <a:ext cx="56643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/>
              <a:t>Pengenalan Tableau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7340600" y="3162300"/>
            <a:ext cx="889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1100" y="3721100"/>
            <a:ext cx="292100" cy="29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"/>
          <p:cNvSpPr txBox="1"/>
          <p:nvPr/>
        </p:nvSpPr>
        <p:spPr>
          <a:xfrm>
            <a:off x="1676400" y="3683000"/>
            <a:ext cx="63297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/>
              <a:t>Menyambungkan dan Persiapan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7340600" y="3683000"/>
            <a:ext cx="889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1100" y="4279900"/>
            <a:ext cx="292100" cy="29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"/>
          <p:cNvSpPr txBox="1"/>
          <p:nvPr/>
        </p:nvSpPr>
        <p:spPr>
          <a:xfrm>
            <a:off x="1676400" y="4229100"/>
            <a:ext cx="62397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/>
              <a:t>Tools built-in untuk persiapan data dari Tableau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7340600" y="4229100"/>
            <a:ext cx="889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1100" y="4787900"/>
            <a:ext cx="292100" cy="29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"/>
          <p:cNvSpPr txBox="1"/>
          <p:nvPr/>
        </p:nvSpPr>
        <p:spPr>
          <a:xfrm>
            <a:off x="1676400" y="4749800"/>
            <a:ext cx="56643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/>
              <a:t>Fundamental perancangan diagram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7340600" y="4749800"/>
            <a:ext cx="889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1100" y="5346700"/>
            <a:ext cx="292100" cy="29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"/>
          <p:cNvSpPr txBox="1"/>
          <p:nvPr/>
        </p:nvSpPr>
        <p:spPr>
          <a:xfrm>
            <a:off x="1676400" y="5308600"/>
            <a:ext cx="4445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/>
              <a:t>Calculated Fields and Quick Analytics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7340600" y="5308600"/>
            <a:ext cx="889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215900" y="-635000"/>
            <a:ext cx="270510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1100" y="5943600"/>
            <a:ext cx="292100" cy="29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"/>
          <p:cNvSpPr txBox="1"/>
          <p:nvPr/>
        </p:nvSpPr>
        <p:spPr>
          <a:xfrm>
            <a:off x="1676400" y="5905500"/>
            <a:ext cx="56643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/>
              <a:t>Kapan Menggunakan Python vs Tableau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7340600" y="5905500"/>
            <a:ext cx="888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1100" y="6502400"/>
            <a:ext cx="292100" cy="29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3"/>
          <p:cNvSpPr txBox="1"/>
          <p:nvPr/>
        </p:nvSpPr>
        <p:spPr>
          <a:xfrm>
            <a:off x="1676400" y="6464300"/>
            <a:ext cx="4445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Hands-On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7340600" y="6464300"/>
            <a:ext cx="888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g37f0f7f59b4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-114300" y="-3809999"/>
            <a:ext cx="18516600" cy="8106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37f0f7f59b4_0_24"/>
          <p:cNvPicPr preferRelativeResize="0"/>
          <p:nvPr/>
        </p:nvPicPr>
        <p:blipFill rotWithShape="1">
          <a:blip r:embed="rId4">
            <a:alphaModFix amt="20000"/>
          </a:blip>
          <a:srcRect b="0" l="0" r="0" t="0"/>
          <a:stretch/>
        </p:blipFill>
        <p:spPr>
          <a:xfrm rot="10800000">
            <a:off x="888999" y="9512300"/>
            <a:ext cx="11087101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g37f0f7f59b4_0_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215900" y="-635000"/>
            <a:ext cx="27051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7f0f7f59b4_0_24"/>
          <p:cNvSpPr txBox="1"/>
          <p:nvPr/>
        </p:nvSpPr>
        <p:spPr>
          <a:xfrm>
            <a:off x="889000" y="1397000"/>
            <a:ext cx="126936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1" lang="en-US" sz="8500">
                <a:solidFill>
                  <a:srgbClr val="3A3685"/>
                </a:solidFill>
                <a:latin typeface="Archivo"/>
                <a:ea typeface="Archivo"/>
                <a:cs typeface="Archivo"/>
                <a:sym typeface="Archivo"/>
              </a:rPr>
              <a:t>Tableau sebagai </a:t>
            </a:r>
            <a:r>
              <a:rPr b="1" i="1" lang="en-US" sz="8500">
                <a:solidFill>
                  <a:srgbClr val="3A3685"/>
                </a:solidFill>
                <a:latin typeface="Archivo"/>
                <a:ea typeface="Archivo"/>
                <a:cs typeface="Archivo"/>
                <a:sym typeface="Archivo"/>
              </a:rPr>
              <a:t>Data Visualization tool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g37f0f7f59b4_0_24" title="Untitled design (2).png"/>
          <p:cNvPicPr preferRelativeResize="0"/>
          <p:nvPr/>
        </p:nvPicPr>
        <p:blipFill rotWithShape="1">
          <a:blip r:embed="rId6">
            <a:alphaModFix/>
          </a:blip>
          <a:srcRect b="49790" l="0" r="52262" t="6073"/>
          <a:stretch/>
        </p:blipFill>
        <p:spPr>
          <a:xfrm>
            <a:off x="1762200" y="5101171"/>
            <a:ext cx="3402451" cy="3145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g37f0f7f59b4_0_24" title="Untitled design (2).png"/>
          <p:cNvPicPr preferRelativeResize="0"/>
          <p:nvPr/>
        </p:nvPicPr>
        <p:blipFill rotWithShape="1">
          <a:blip r:embed="rId6">
            <a:alphaModFix/>
          </a:blip>
          <a:srcRect b="0" l="0" r="53497" t="53572"/>
          <a:stretch/>
        </p:blipFill>
        <p:spPr>
          <a:xfrm>
            <a:off x="7568525" y="5043598"/>
            <a:ext cx="3150959" cy="314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37f0f7f59b4_0_24" title="Untitled design (2).png"/>
          <p:cNvPicPr preferRelativeResize="0"/>
          <p:nvPr/>
        </p:nvPicPr>
        <p:blipFill rotWithShape="1">
          <a:blip r:embed="rId6">
            <a:alphaModFix/>
          </a:blip>
          <a:srcRect b="3638" l="49293" r="4203" t="47972"/>
          <a:stretch/>
        </p:blipFill>
        <p:spPr>
          <a:xfrm>
            <a:off x="13123350" y="4944600"/>
            <a:ext cx="3023182" cy="3145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g37f0f7f59b4_0_24"/>
          <p:cNvCxnSpPr/>
          <p:nvPr/>
        </p:nvCxnSpPr>
        <p:spPr>
          <a:xfrm>
            <a:off x="5576100" y="6647650"/>
            <a:ext cx="1508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g37f0f7f59b4_0_24"/>
          <p:cNvCxnSpPr/>
          <p:nvPr/>
        </p:nvCxnSpPr>
        <p:spPr>
          <a:xfrm>
            <a:off x="11167363" y="6517500"/>
            <a:ext cx="1508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" name="Google Shape;159;g37f0f7f59b4_0_24"/>
          <p:cNvSpPr txBox="1"/>
          <p:nvPr/>
        </p:nvSpPr>
        <p:spPr>
          <a:xfrm>
            <a:off x="8049588" y="8246975"/>
            <a:ext cx="218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visualization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7f0f7f59b4_0_24"/>
          <p:cNvSpPr txBox="1"/>
          <p:nvPr/>
        </p:nvSpPr>
        <p:spPr>
          <a:xfrm>
            <a:off x="2369013" y="8246975"/>
            <a:ext cx="218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7f0f7f59b4_0_24"/>
          <p:cNvSpPr txBox="1"/>
          <p:nvPr/>
        </p:nvSpPr>
        <p:spPr>
          <a:xfrm>
            <a:off x="13540525" y="8062325"/>
            <a:ext cx="4354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Menyelesaikan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masalah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Insights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untuk mengembangkan bisnis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g37f0f7f59b4_0_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15900" y="-635000"/>
            <a:ext cx="270510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g37f0f7f59b4_0_49" title="Untitled design (2).png"/>
          <p:cNvPicPr preferRelativeResize="0"/>
          <p:nvPr/>
        </p:nvPicPr>
        <p:blipFill rotWithShape="1">
          <a:blip r:embed="rId4">
            <a:alphaModFix/>
          </a:blip>
          <a:srcRect b="49790" l="0" r="52262" t="6073"/>
          <a:stretch/>
        </p:blipFill>
        <p:spPr>
          <a:xfrm>
            <a:off x="4800265" y="1532452"/>
            <a:ext cx="2040898" cy="1886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7f0f7f59b4_0_49" title="Untitled design (2).png"/>
          <p:cNvPicPr preferRelativeResize="0"/>
          <p:nvPr/>
        </p:nvPicPr>
        <p:blipFill rotWithShape="1">
          <a:blip r:embed="rId4">
            <a:alphaModFix/>
          </a:blip>
          <a:srcRect b="0" l="0" r="53497" t="53572"/>
          <a:stretch/>
        </p:blipFill>
        <p:spPr>
          <a:xfrm>
            <a:off x="8283082" y="1497919"/>
            <a:ext cx="1890041" cy="1886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7f0f7f59b4_0_49" title="Untitled design (2).png"/>
          <p:cNvPicPr preferRelativeResize="0"/>
          <p:nvPr/>
        </p:nvPicPr>
        <p:blipFill rotWithShape="1">
          <a:blip r:embed="rId4">
            <a:alphaModFix/>
          </a:blip>
          <a:srcRect b="3638" l="49293" r="4203" t="47972"/>
          <a:stretch/>
        </p:blipFill>
        <p:spPr>
          <a:xfrm>
            <a:off x="11615040" y="1438536"/>
            <a:ext cx="1813401" cy="18869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" name="Google Shape;170;g37f0f7f59b4_0_49"/>
          <p:cNvCxnSpPr/>
          <p:nvPr/>
        </p:nvCxnSpPr>
        <p:spPr>
          <a:xfrm>
            <a:off x="7087962" y="2460078"/>
            <a:ext cx="904800" cy="0"/>
          </a:xfrm>
          <a:prstGeom prst="straightConnector1">
            <a:avLst/>
          </a:prstGeom>
          <a:noFill/>
          <a:ln cap="flat" cmpd="sng" w="57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" name="Google Shape;171;g37f0f7f59b4_0_49"/>
          <p:cNvCxnSpPr/>
          <p:nvPr/>
        </p:nvCxnSpPr>
        <p:spPr>
          <a:xfrm>
            <a:off x="10441778" y="2382010"/>
            <a:ext cx="904800" cy="0"/>
          </a:xfrm>
          <a:prstGeom prst="straightConnector1">
            <a:avLst/>
          </a:prstGeom>
          <a:noFill/>
          <a:ln cap="flat" cmpd="sng" w="57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2" name="Google Shape;172;g37f0f7f59b4_0_49"/>
          <p:cNvSpPr/>
          <p:nvPr/>
        </p:nvSpPr>
        <p:spPr>
          <a:xfrm>
            <a:off x="4572000" y="1029450"/>
            <a:ext cx="9312300" cy="2705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7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525" lIns="75525" spcFirstLastPara="1" rIns="75525" wrap="square" tIns="75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6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g37f0f7f59b4_0_49" title="Tableau-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02825" y="4107837"/>
            <a:ext cx="3682350" cy="2071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7f0f7f59b4_0_49" title="Untitled design (3).png"/>
          <p:cNvPicPr preferRelativeResize="0"/>
          <p:nvPr/>
        </p:nvPicPr>
        <p:blipFill rotWithShape="1">
          <a:blip r:embed="rId6">
            <a:alphaModFix/>
          </a:blip>
          <a:srcRect b="54969" l="0" r="45767" t="0"/>
          <a:stretch/>
        </p:blipFill>
        <p:spPr>
          <a:xfrm>
            <a:off x="2884525" y="6938463"/>
            <a:ext cx="2758528" cy="22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37f0f7f59b4_0_49" title="Untitled design (3).png"/>
          <p:cNvPicPr preferRelativeResize="0"/>
          <p:nvPr/>
        </p:nvPicPr>
        <p:blipFill rotWithShape="1">
          <a:blip r:embed="rId6">
            <a:alphaModFix/>
          </a:blip>
          <a:srcRect b="0" l="0" r="47745" t="47846"/>
          <a:stretch/>
        </p:blipFill>
        <p:spPr>
          <a:xfrm>
            <a:off x="8191774" y="6902100"/>
            <a:ext cx="2367827" cy="236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7f0f7f59b4_0_49" title="Untitled design (3).png"/>
          <p:cNvPicPr preferRelativeResize="0"/>
          <p:nvPr/>
        </p:nvPicPr>
        <p:blipFill rotWithShape="1">
          <a:blip r:embed="rId6">
            <a:alphaModFix/>
          </a:blip>
          <a:srcRect b="13130" l="54969" r="2156" t="41838"/>
          <a:stretch/>
        </p:blipFill>
        <p:spPr>
          <a:xfrm>
            <a:off x="13428450" y="6840262"/>
            <a:ext cx="2367824" cy="24869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177;g37f0f7f59b4_0_49"/>
          <p:cNvCxnSpPr/>
          <p:nvPr/>
        </p:nvCxnSpPr>
        <p:spPr>
          <a:xfrm>
            <a:off x="9228100" y="5674250"/>
            <a:ext cx="0" cy="93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" name="Google Shape;178;g37f0f7f59b4_0_49"/>
          <p:cNvCxnSpPr/>
          <p:nvPr/>
        </p:nvCxnSpPr>
        <p:spPr>
          <a:xfrm>
            <a:off x="9228150" y="4107825"/>
            <a:ext cx="0" cy="50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" name="Google Shape;179;g37f0f7f59b4_0_49"/>
          <p:cNvSpPr txBox="1"/>
          <p:nvPr/>
        </p:nvSpPr>
        <p:spPr>
          <a:xfrm>
            <a:off x="2148200" y="9462950"/>
            <a:ext cx="433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Historical business pattern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7f0f7f59b4_0_49"/>
          <p:cNvSpPr txBox="1"/>
          <p:nvPr/>
        </p:nvSpPr>
        <p:spPr>
          <a:xfrm>
            <a:off x="6737325" y="9462950"/>
            <a:ext cx="527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Query untuk mengidentifikasi masalah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7f0f7f59b4_0_49"/>
          <p:cNvSpPr txBox="1"/>
          <p:nvPr/>
        </p:nvSpPr>
        <p:spPr>
          <a:xfrm>
            <a:off x="12443950" y="9462950"/>
            <a:ext cx="433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Menyelesaikan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masalah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g37dd2a721f6_0_1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-114300" y="-3810000"/>
            <a:ext cx="18516600" cy="697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37dd2a721f6_0_141"/>
          <p:cNvPicPr preferRelativeResize="0"/>
          <p:nvPr/>
        </p:nvPicPr>
        <p:blipFill rotWithShape="1">
          <a:blip r:embed="rId4">
            <a:alphaModFix amt="20000"/>
          </a:blip>
          <a:srcRect b="0" l="0" r="0" t="0"/>
          <a:stretch/>
        </p:blipFill>
        <p:spPr>
          <a:xfrm rot="10800000">
            <a:off x="888999" y="9512300"/>
            <a:ext cx="11087101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37dd2a721f6_0_1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215900" y="-635000"/>
            <a:ext cx="27051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7dd2a721f6_0_141"/>
          <p:cNvSpPr txBox="1"/>
          <p:nvPr/>
        </p:nvSpPr>
        <p:spPr>
          <a:xfrm>
            <a:off x="889000" y="1397000"/>
            <a:ext cx="126936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1" lang="en-US" sz="8500">
                <a:solidFill>
                  <a:srgbClr val="3A3685"/>
                </a:solidFill>
                <a:latin typeface="Archivo"/>
                <a:ea typeface="Archivo"/>
                <a:cs typeface="Archivo"/>
                <a:sym typeface="Archivo"/>
              </a:rPr>
              <a:t>Apa itu Tableau?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7dd2a721f6_0_141"/>
          <p:cNvSpPr txBox="1"/>
          <p:nvPr/>
        </p:nvSpPr>
        <p:spPr>
          <a:xfrm>
            <a:off x="9191900" y="8936175"/>
            <a:ext cx="761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888888"/>
                </a:solidFill>
              </a:rPr>
              <a:t>https://www.tableau.com/</a:t>
            </a:r>
            <a:endParaRPr b="0" i="0" sz="14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7dd2a721f6_0_141"/>
          <p:cNvSpPr txBox="1"/>
          <p:nvPr/>
        </p:nvSpPr>
        <p:spPr>
          <a:xfrm>
            <a:off x="889000" y="3683200"/>
            <a:ext cx="16242600" cy="30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/>
              <a:t>Tableau adalah alat visualisasi data yang memungkinkan kita menganalisis hampir semua jenis data terstruktur dan menghasilkan grafik, </a:t>
            </a:r>
            <a:r>
              <a:rPr i="1" lang="en-US" sz="2500"/>
              <a:t>dashboard</a:t>
            </a:r>
            <a:r>
              <a:rPr lang="en-US" sz="2500"/>
              <a:t>, dan laporan yang sangat interaktif dan menarik dalam hitungan menit.</a:t>
            </a:r>
            <a:endParaRPr sz="2500"/>
          </a:p>
          <a:p>
            <a:pPr indent="0" lvl="0" marL="0" marR="0" rtl="0" algn="l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/>
          </a:p>
          <a:p>
            <a:pPr indent="0" lvl="0" marL="0" marR="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/>
              <a:t>Tableau mampu mem-visualisasi data dan </a:t>
            </a:r>
            <a:r>
              <a:rPr i="1" lang="en-US" sz="2500"/>
              <a:t>business intelligence</a:t>
            </a:r>
            <a:r>
              <a:rPr lang="en-US" sz="2500"/>
              <a:t> yang dapat digunakan untuk melaporkan dan menganalisis data dalam jumlah besar.</a:t>
            </a:r>
            <a:endParaRPr sz="2500"/>
          </a:p>
        </p:txBody>
      </p:sp>
      <p:pic>
        <p:nvPicPr>
          <p:cNvPr id="192" name="Google Shape;192;g37dd2a721f6_0_141" title="Tableau-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1550" y="6771100"/>
            <a:ext cx="4331377" cy="243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g37f0f7f59b4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-114300" y="-3810000"/>
            <a:ext cx="18516600" cy="697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7f0f7f59b4_0_14"/>
          <p:cNvPicPr preferRelativeResize="0"/>
          <p:nvPr/>
        </p:nvPicPr>
        <p:blipFill rotWithShape="1">
          <a:blip r:embed="rId4">
            <a:alphaModFix amt="20000"/>
          </a:blip>
          <a:srcRect b="0" l="0" r="0" t="0"/>
          <a:stretch/>
        </p:blipFill>
        <p:spPr>
          <a:xfrm rot="10800000">
            <a:off x="888999" y="9512300"/>
            <a:ext cx="11087101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37f0f7f59b4_0_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215900" y="-635000"/>
            <a:ext cx="27051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7f0f7f59b4_0_14"/>
          <p:cNvSpPr txBox="1"/>
          <p:nvPr/>
        </p:nvSpPr>
        <p:spPr>
          <a:xfrm>
            <a:off x="889000" y="1397000"/>
            <a:ext cx="126936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1" i="1" lang="en-US" sz="8500">
                <a:solidFill>
                  <a:srgbClr val="3A3685"/>
                </a:solidFill>
                <a:latin typeface="Archivo"/>
                <a:ea typeface="Archivo"/>
                <a:cs typeface="Archivo"/>
                <a:sym typeface="Archivo"/>
              </a:rPr>
              <a:t>Why</a:t>
            </a:r>
            <a:r>
              <a:rPr b="1" lang="en-US" sz="8500">
                <a:solidFill>
                  <a:srgbClr val="3A3685"/>
                </a:solidFill>
                <a:latin typeface="Archivo"/>
                <a:ea typeface="Archivo"/>
                <a:cs typeface="Archivo"/>
                <a:sym typeface="Archivo"/>
              </a:rPr>
              <a:t> Tableau?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7f0f7f59b4_0_14"/>
          <p:cNvSpPr txBox="1"/>
          <p:nvPr/>
        </p:nvSpPr>
        <p:spPr>
          <a:xfrm>
            <a:off x="9191900" y="8936175"/>
            <a:ext cx="761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888888"/>
                </a:solidFill>
              </a:rPr>
              <a:t>https://www.geeksforgeeks.org/tableau/introduction-to-tableau/</a:t>
            </a:r>
            <a:endParaRPr b="0" i="0" sz="14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7f0f7f59b4_0_14"/>
          <p:cNvSpPr txBox="1"/>
          <p:nvPr/>
        </p:nvSpPr>
        <p:spPr>
          <a:xfrm>
            <a:off x="889000" y="3683200"/>
            <a:ext cx="16242600" cy="41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7350" lvl="0" marL="45720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-US" sz="2500"/>
              <a:t>Perhitungan cepat</a:t>
            </a:r>
            <a:r>
              <a:rPr lang="en-US" sz="2500"/>
              <a:t> - Semua perhitungan pada Tableau dilakukan oleh backend, sehingga relatif lebih cepat daripada alat lainnya.</a:t>
            </a:r>
            <a:endParaRPr sz="2500"/>
          </a:p>
          <a:p>
            <a:pPr indent="-387350" lvl="0" marL="45720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i="1" lang="en-US" sz="2500"/>
              <a:t>Interactive dashboard</a:t>
            </a:r>
            <a:r>
              <a:rPr lang="en-US" sz="2500"/>
              <a:t> - Dasbor Tableau sangat interaktif dan mudah digambar.</a:t>
            </a:r>
            <a:endParaRPr sz="2500"/>
          </a:p>
          <a:p>
            <a:pPr indent="-387350" lvl="0" marL="45720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-US" sz="2500"/>
              <a:t>Tanpa perhitungan manual</a:t>
            </a:r>
            <a:r>
              <a:rPr lang="en-US" sz="2500"/>
              <a:t> - Semua perhitungan hanya dilakukan oleh Tableau. Tidak ada perhitungan manual, tetapi dalam beberapa kasus tertentu, kami menggunakan kolom terhitung untuk perhitungan.</a:t>
            </a:r>
            <a:endParaRPr sz="2500"/>
          </a:p>
          <a:p>
            <a:pPr indent="-387350" lvl="0" marL="45720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-US" sz="2500"/>
              <a:t>Data dalam jumlah besar</a:t>
            </a:r>
            <a:r>
              <a:rPr lang="en-US" sz="2500"/>
              <a:t> - Tableau dapat menangani data dalam jumlah besar. Berbagai jenis visualisasi dapat dibuat dengan data dalam jumlah besar tanpa memengaruhi kinerja dasbor.</a:t>
            </a:r>
            <a:endParaRPr sz="2500"/>
          </a:p>
          <a:p>
            <a:pPr indent="0" lvl="0" marL="0" marR="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/>
          </a:p>
        </p:txBody>
      </p:sp>
      <p:pic>
        <p:nvPicPr>
          <p:cNvPr id="203" name="Google Shape;203;g37f0f7f59b4_0_14" title="Tableau-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1550" y="6771100"/>
            <a:ext cx="4331377" cy="243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g37f0f7f59b4_0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-114300" y="-3810000"/>
            <a:ext cx="18516600" cy="697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g37f0f7f59b4_0_33"/>
          <p:cNvPicPr preferRelativeResize="0"/>
          <p:nvPr/>
        </p:nvPicPr>
        <p:blipFill rotWithShape="1">
          <a:blip r:embed="rId4">
            <a:alphaModFix amt="20000"/>
          </a:blip>
          <a:srcRect b="0" l="0" r="0" t="0"/>
          <a:stretch/>
        </p:blipFill>
        <p:spPr>
          <a:xfrm rot="10800000">
            <a:off x="888999" y="9512300"/>
            <a:ext cx="11087101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g37f0f7f59b4_0_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215900" y="-635000"/>
            <a:ext cx="27051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7f0f7f59b4_0_33"/>
          <p:cNvSpPr txBox="1"/>
          <p:nvPr/>
        </p:nvSpPr>
        <p:spPr>
          <a:xfrm>
            <a:off x="889000" y="1397000"/>
            <a:ext cx="126936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1" lang="en-US" sz="8500">
                <a:solidFill>
                  <a:srgbClr val="3A3685"/>
                </a:solidFill>
                <a:latin typeface="Archivo"/>
                <a:ea typeface="Archivo"/>
                <a:cs typeface="Archivo"/>
                <a:sym typeface="Archivo"/>
              </a:rPr>
              <a:t>Fitur</a:t>
            </a:r>
            <a:r>
              <a:rPr b="1" lang="en-US" sz="8500">
                <a:solidFill>
                  <a:srgbClr val="3A3685"/>
                </a:solidFill>
                <a:latin typeface="Archivo"/>
                <a:ea typeface="Archivo"/>
                <a:cs typeface="Archivo"/>
                <a:sym typeface="Archivo"/>
              </a:rPr>
              <a:t> Tableau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7f0f7f59b4_0_33"/>
          <p:cNvSpPr txBox="1"/>
          <p:nvPr/>
        </p:nvSpPr>
        <p:spPr>
          <a:xfrm>
            <a:off x="9191900" y="8936175"/>
            <a:ext cx="761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888888"/>
                </a:solidFill>
              </a:rPr>
              <a:t>https://www.geeksforgeeks.org/tableau/introduction-to-tableau/</a:t>
            </a:r>
            <a:endParaRPr b="0" i="0" sz="14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g37f0f7f59b4_0_33" title="1.png"/>
          <p:cNvPicPr preferRelativeResize="0"/>
          <p:nvPr/>
        </p:nvPicPr>
        <p:blipFill rotWithShape="1">
          <a:blip r:embed="rId6">
            <a:alphaModFix/>
          </a:blip>
          <a:srcRect b="56794" l="4590" r="52226" t="6441"/>
          <a:stretch/>
        </p:blipFill>
        <p:spPr>
          <a:xfrm>
            <a:off x="1358175" y="4679950"/>
            <a:ext cx="2610576" cy="222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g37f0f7f59b4_0_33" title="1.png"/>
          <p:cNvPicPr preferRelativeResize="0"/>
          <p:nvPr/>
        </p:nvPicPr>
        <p:blipFill rotWithShape="1">
          <a:blip r:embed="rId6">
            <a:alphaModFix/>
          </a:blip>
          <a:srcRect b="7879" l="50319" r="6495" t="49915"/>
          <a:stretch/>
        </p:blipFill>
        <p:spPr>
          <a:xfrm>
            <a:off x="13159250" y="4811050"/>
            <a:ext cx="2274091" cy="222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g37f0f7f59b4_0_33" title="1.png"/>
          <p:cNvPicPr preferRelativeResize="0"/>
          <p:nvPr/>
        </p:nvPicPr>
        <p:blipFill rotWithShape="1">
          <a:blip r:embed="rId6">
            <a:alphaModFix/>
          </a:blip>
          <a:srcRect b="58730" l="55253" r="12217" t="9756"/>
          <a:stretch/>
        </p:blipFill>
        <p:spPr>
          <a:xfrm>
            <a:off x="5340175" y="4944575"/>
            <a:ext cx="1966375" cy="190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g37f0f7f59b4_0_33" title="1.png"/>
          <p:cNvPicPr preferRelativeResize="0"/>
          <p:nvPr/>
        </p:nvPicPr>
        <p:blipFill rotWithShape="1">
          <a:blip r:embed="rId6">
            <a:alphaModFix/>
          </a:blip>
          <a:srcRect b="7820" l="0" r="51124" t="49974"/>
          <a:stretch/>
        </p:blipFill>
        <p:spPr>
          <a:xfrm>
            <a:off x="9095850" y="4940438"/>
            <a:ext cx="2274099" cy="196368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37f0f7f59b4_0_33"/>
          <p:cNvSpPr txBox="1"/>
          <p:nvPr/>
        </p:nvSpPr>
        <p:spPr>
          <a:xfrm>
            <a:off x="1569063" y="6902450"/>
            <a:ext cx="218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Cepat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7f0f7f59b4_0_33"/>
          <p:cNvSpPr txBox="1"/>
          <p:nvPr/>
        </p:nvSpPr>
        <p:spPr>
          <a:xfrm>
            <a:off x="4970815" y="6904125"/>
            <a:ext cx="2705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Mendukung banyak sumber data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7f0f7f59b4_0_33"/>
          <p:cNvSpPr txBox="1"/>
          <p:nvPr/>
        </p:nvSpPr>
        <p:spPr>
          <a:xfrm>
            <a:off x="9138488" y="6902450"/>
            <a:ext cx="218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coding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7f0f7f59b4_0_33"/>
          <p:cNvSpPr txBox="1"/>
          <p:nvPr/>
        </p:nvSpPr>
        <p:spPr>
          <a:xfrm>
            <a:off x="13244538" y="6902450"/>
            <a:ext cx="218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Menyediakan server terpusat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g37f1f15e37f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-114300" y="-3810001"/>
            <a:ext cx="18516600" cy="8096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g37f1f15e37f_0_2"/>
          <p:cNvPicPr preferRelativeResize="0"/>
          <p:nvPr/>
        </p:nvPicPr>
        <p:blipFill rotWithShape="1">
          <a:blip r:embed="rId4">
            <a:alphaModFix amt="20000"/>
          </a:blip>
          <a:srcRect b="0" l="0" r="0" t="0"/>
          <a:stretch/>
        </p:blipFill>
        <p:spPr>
          <a:xfrm rot="10800000">
            <a:off x="888999" y="9512300"/>
            <a:ext cx="11087101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g37f1f15e37f_0_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215900" y="-635000"/>
            <a:ext cx="27051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37f1f15e37f_0_2"/>
          <p:cNvSpPr txBox="1"/>
          <p:nvPr/>
        </p:nvSpPr>
        <p:spPr>
          <a:xfrm>
            <a:off x="889000" y="1397000"/>
            <a:ext cx="13831500" cy="13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1" i="1" lang="en-US" sz="8500">
                <a:solidFill>
                  <a:srgbClr val="3A3685"/>
                </a:solidFill>
                <a:latin typeface="Archivo"/>
                <a:ea typeface="Archivo"/>
                <a:cs typeface="Archivo"/>
                <a:sym typeface="Archivo"/>
              </a:rPr>
              <a:t>Data Cleaning </a:t>
            </a:r>
            <a:r>
              <a:rPr b="1" lang="en-US" sz="8500">
                <a:solidFill>
                  <a:srgbClr val="3A3685"/>
                </a:solidFill>
                <a:latin typeface="Archivo"/>
                <a:ea typeface="Archivo"/>
                <a:cs typeface="Archivo"/>
                <a:sym typeface="Archivo"/>
              </a:rPr>
              <a:t>sebelum visualisasi di Tableau</a:t>
            </a:r>
            <a:endParaRPr b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7f1f15e37f_0_2"/>
          <p:cNvSpPr txBox="1"/>
          <p:nvPr/>
        </p:nvSpPr>
        <p:spPr>
          <a:xfrm>
            <a:off x="14720450" y="48058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7f1f15e37f_0_2"/>
          <p:cNvSpPr txBox="1"/>
          <p:nvPr/>
        </p:nvSpPr>
        <p:spPr>
          <a:xfrm>
            <a:off x="889000" y="4697800"/>
            <a:ext cx="16242600" cy="3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/>
              <a:t>Kenapa perlu data cleaning di Python sebelum visualisasi di Tableau?</a:t>
            </a:r>
            <a:endParaRPr b="1" sz="3200"/>
          </a:p>
          <a:p>
            <a:pPr indent="-387350" lvl="0" marL="45720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Tableau kuat di visualisasi, tapi terbatas di data prep kompleks.</a:t>
            </a:r>
            <a:endParaRPr sz="2500"/>
          </a:p>
          <a:p>
            <a:pPr indent="-387350" lvl="0" marL="45720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Data mentah biasanya kotor: ada missing values, duplikasi, outlier, format tanggal yang salah, atau kategori yang tidak konsisten.</a:t>
            </a:r>
            <a:endParaRPr sz="2500"/>
          </a:p>
          <a:p>
            <a:pPr indent="-387350" lvl="0" marL="45720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Python (pandas, numpy) jauh lebih fleksibel untuk membersihkan dan menyiapkan data sebelum divisualisasikan di Tableau.</a:t>
            </a:r>
            <a:endParaRPr sz="2500"/>
          </a:p>
          <a:p>
            <a:pPr indent="0" lvl="0" marL="0" marR="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sz="2500"/>
          </a:p>
        </p:txBody>
      </p:sp>
      <p:sp>
        <p:nvSpPr>
          <p:cNvPr id="231" name="Google Shape;231;g37f1f15e37f_0_2"/>
          <p:cNvSpPr/>
          <p:nvPr/>
        </p:nvSpPr>
        <p:spPr>
          <a:xfrm>
            <a:off x="3285150" y="8203175"/>
            <a:ext cx="3000000" cy="8553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Cleaning (Python)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7f1f15e37f_0_2"/>
          <p:cNvSpPr/>
          <p:nvPr/>
        </p:nvSpPr>
        <p:spPr>
          <a:xfrm>
            <a:off x="7072588" y="8203175"/>
            <a:ext cx="3000000" cy="855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Export File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7f1f15e37f_0_2"/>
          <p:cNvSpPr/>
          <p:nvPr/>
        </p:nvSpPr>
        <p:spPr>
          <a:xfrm>
            <a:off x="10860050" y="8203175"/>
            <a:ext cx="3000000" cy="8553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Visualisasi (Tableau)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4" name="Google Shape;234;g37f1f15e37f_0_2"/>
          <p:cNvCxnSpPr>
            <a:stCxn id="231" idx="3"/>
            <a:endCxn id="232" idx="1"/>
          </p:cNvCxnSpPr>
          <p:nvPr/>
        </p:nvCxnSpPr>
        <p:spPr>
          <a:xfrm>
            <a:off x="6285150" y="8630825"/>
            <a:ext cx="78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g37f1f15e37f_0_2"/>
          <p:cNvCxnSpPr>
            <a:stCxn id="232" idx="3"/>
            <a:endCxn id="233" idx="1"/>
          </p:cNvCxnSpPr>
          <p:nvPr/>
        </p:nvCxnSpPr>
        <p:spPr>
          <a:xfrm>
            <a:off x="10072588" y="8630825"/>
            <a:ext cx="78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-114300" y="-3810000"/>
            <a:ext cx="18516600" cy="805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9"/>
          <p:cNvPicPr preferRelativeResize="0"/>
          <p:nvPr/>
        </p:nvPicPr>
        <p:blipFill rotWithShape="1">
          <a:blip r:embed="rId4">
            <a:alphaModFix amt="20000"/>
          </a:blip>
          <a:srcRect b="0" l="0" r="0" t="0"/>
          <a:stretch/>
        </p:blipFill>
        <p:spPr>
          <a:xfrm rot="10800000">
            <a:off x="889000" y="9512300"/>
            <a:ext cx="110871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215900" y="-635000"/>
            <a:ext cx="27051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9"/>
          <p:cNvSpPr txBox="1"/>
          <p:nvPr/>
        </p:nvSpPr>
        <p:spPr>
          <a:xfrm>
            <a:off x="889000" y="1397000"/>
            <a:ext cx="11544300" cy="15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1" lang="en-US" sz="8500">
                <a:solidFill>
                  <a:srgbClr val="3A3685"/>
                </a:solidFill>
                <a:latin typeface="Archivo"/>
                <a:ea typeface="Archivo"/>
                <a:cs typeface="Archivo"/>
                <a:sym typeface="Archivo"/>
              </a:rPr>
              <a:t>Menyambungkan &amp; Persiapan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"/>
          <p:cNvSpPr txBox="1"/>
          <p:nvPr/>
        </p:nvSpPr>
        <p:spPr>
          <a:xfrm>
            <a:off x="12433300" y="8936175"/>
            <a:ext cx="4369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888888"/>
                </a:solidFill>
              </a:rPr>
              <a:t>https://help.tableau.com/current/guides/get-started-tutorial/en-us/get-started-tutorial-connect.htm</a:t>
            </a:r>
            <a:endParaRPr b="0" i="0" sz="14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5" name="Google Shape;245;p9" title="Connect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4981" y="4244825"/>
            <a:ext cx="8756770" cy="604217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9"/>
          <p:cNvSpPr/>
          <p:nvPr/>
        </p:nvSpPr>
        <p:spPr>
          <a:xfrm>
            <a:off x="1474100" y="6023150"/>
            <a:ext cx="1424400" cy="2031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 txBox="1"/>
          <p:nvPr/>
        </p:nvSpPr>
        <p:spPr>
          <a:xfrm>
            <a:off x="9644575" y="5439450"/>
            <a:ext cx="3000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u="sng">
                <a:solidFill>
                  <a:schemeClr val="hlink"/>
                </a:solidFill>
                <a:hlinkClick r:id="rId7"/>
              </a:rPr>
              <a:t>Installation guide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u="sng">
                <a:solidFill>
                  <a:schemeClr val="hlink"/>
                </a:solidFill>
                <a:hlinkClick r:id="rId8"/>
              </a:rPr>
              <a:t>Tutorial lebih detail</a:t>
            </a:r>
            <a:endParaRPr sz="2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g38a5f699984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-114300" y="-3810000"/>
            <a:ext cx="18516600" cy="805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g38a5f699984_0_10"/>
          <p:cNvPicPr preferRelativeResize="0"/>
          <p:nvPr/>
        </p:nvPicPr>
        <p:blipFill rotWithShape="1">
          <a:blip r:embed="rId4">
            <a:alphaModFix amt="20000"/>
          </a:blip>
          <a:srcRect b="0" l="0" r="0" t="0"/>
          <a:stretch/>
        </p:blipFill>
        <p:spPr>
          <a:xfrm rot="10800000">
            <a:off x="888999" y="9512300"/>
            <a:ext cx="11087101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g38a5f699984_0_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215900" y="-635000"/>
            <a:ext cx="27051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38a5f699984_0_10"/>
          <p:cNvSpPr txBox="1"/>
          <p:nvPr/>
        </p:nvSpPr>
        <p:spPr>
          <a:xfrm>
            <a:off x="889000" y="1397000"/>
            <a:ext cx="12693600" cy="25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1" lang="en-US" sz="8500">
                <a:solidFill>
                  <a:srgbClr val="3A3685"/>
                </a:solidFill>
                <a:latin typeface="Archivo"/>
                <a:ea typeface="Archivo"/>
                <a:cs typeface="Archivo"/>
                <a:sym typeface="Archivo"/>
              </a:rPr>
              <a:t>Tools dan Built-in Persiapan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8a5f699984_0_10"/>
          <p:cNvSpPr txBox="1"/>
          <p:nvPr/>
        </p:nvSpPr>
        <p:spPr>
          <a:xfrm>
            <a:off x="889000" y="4678250"/>
            <a:ext cx="16242600" cy="41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7350" lvl="0" marL="457200" marR="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-US" sz="2500"/>
              <a:t>Join - </a:t>
            </a:r>
            <a:r>
              <a:rPr lang="en-US" sz="2500"/>
              <a:t>Menggabungkan dua tabel berdasarkan field kunci (key column).</a:t>
            </a:r>
            <a:endParaRPr sz="2500"/>
          </a:p>
          <a:p>
            <a:pPr indent="-387350" lvl="0" marL="457200" marR="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-US" sz="2500"/>
              <a:t>Unions - </a:t>
            </a:r>
            <a:r>
              <a:rPr lang="en-US" sz="2500"/>
              <a:t>Menyatukan tabel dengan struktur kolom yang sama, menambah baris ke bawah.</a:t>
            </a:r>
            <a:endParaRPr sz="2500"/>
          </a:p>
          <a:p>
            <a:pPr indent="-387350" lvl="0" marL="457200" marR="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-US" sz="2500"/>
              <a:t>Data Interpreter </a:t>
            </a:r>
            <a:r>
              <a:rPr lang="en-US" sz="2500"/>
              <a:t>- Membersihkan data bawaan dari Excel atau CSV.</a:t>
            </a:r>
            <a:endParaRPr sz="2500"/>
          </a:p>
          <a:p>
            <a:pPr indent="-387350" lvl="0" marL="457200" marR="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-US" sz="2500"/>
              <a:t>Data Types - </a:t>
            </a:r>
            <a:r>
              <a:rPr lang="en-US" sz="2500"/>
              <a:t>Menentukan jenis data yang benar agar analisis tepat.</a:t>
            </a:r>
            <a:endParaRPr sz="2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g3888588e0da_0_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7600" y="3238500"/>
            <a:ext cx="160527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g3888588e0da_0_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15900" y="-635000"/>
            <a:ext cx="27051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g3888588e0da_0_91"/>
          <p:cNvSpPr txBox="1"/>
          <p:nvPr/>
        </p:nvSpPr>
        <p:spPr>
          <a:xfrm>
            <a:off x="1221525" y="4401150"/>
            <a:ext cx="7610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7350" lvl="0" marL="45720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-US" sz="2500"/>
              <a:t>Fungsinya</a:t>
            </a:r>
            <a:r>
              <a:rPr lang="en-US" sz="2500"/>
              <a:t>: Menggabungkan dua tabel berdasarkan field kunci (key column).</a:t>
            </a:r>
            <a:endParaRPr sz="2500"/>
          </a:p>
          <a:p>
            <a:pPr indent="-387350" lvl="0" marL="45720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-US" sz="2500"/>
              <a:t>Jenis join</a:t>
            </a:r>
            <a:r>
              <a:rPr lang="en-US" sz="2500"/>
              <a:t>: Inner, Left, Right, Full Outer.</a:t>
            </a:r>
            <a:endParaRPr sz="2500"/>
          </a:p>
          <a:p>
            <a:pPr indent="-387350" lvl="0" marL="45720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-US" sz="2500"/>
              <a:t>Contoh</a:t>
            </a:r>
            <a:r>
              <a:rPr lang="en-US" sz="2500"/>
              <a:t>: Gabungkan tabel </a:t>
            </a:r>
            <a:r>
              <a:rPr i="1" lang="en-US" sz="2500">
                <a:solidFill>
                  <a:srgbClr val="93C47D"/>
                </a:solidFill>
              </a:rPr>
              <a:t>Product</a:t>
            </a:r>
            <a:r>
              <a:rPr i="1" lang="en-US" sz="2500"/>
              <a:t>, </a:t>
            </a:r>
            <a:r>
              <a:rPr i="1" lang="en-US" sz="2500">
                <a:solidFill>
                  <a:srgbClr val="93C47D"/>
                </a:solidFill>
              </a:rPr>
              <a:t>OrderDetails</a:t>
            </a:r>
            <a:r>
              <a:rPr i="1" lang="en-US" sz="2500"/>
              <a:t>, </a:t>
            </a:r>
            <a:r>
              <a:rPr lang="en-US" sz="2500"/>
              <a:t>and </a:t>
            </a:r>
            <a:r>
              <a:rPr i="1" lang="en-US" sz="2500">
                <a:solidFill>
                  <a:srgbClr val="93C47D"/>
                </a:solidFill>
              </a:rPr>
              <a:t>PropertyInfo </a:t>
            </a:r>
            <a:r>
              <a:rPr lang="en-US" sz="2500"/>
              <a:t>menggunakan </a:t>
            </a:r>
            <a:r>
              <a:rPr i="1" lang="en-US" sz="2500">
                <a:solidFill>
                  <a:srgbClr val="93C47D"/>
                </a:solidFill>
              </a:rPr>
              <a:t>property_id</a:t>
            </a:r>
            <a:r>
              <a:rPr i="1" lang="en-US" sz="2500"/>
              <a:t>.</a:t>
            </a:r>
            <a:endParaRPr i="1" sz="2500"/>
          </a:p>
          <a:p>
            <a:pPr indent="0" lvl="0" marL="0" marR="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264" name="Google Shape;264;g3888588e0da_0_91"/>
          <p:cNvSpPr txBox="1"/>
          <p:nvPr/>
        </p:nvSpPr>
        <p:spPr>
          <a:xfrm>
            <a:off x="1117600" y="3493963"/>
            <a:ext cx="7892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188038"/>
                </a:solidFill>
              </a:rPr>
              <a:t>Join</a:t>
            </a:r>
            <a:endParaRPr b="1" i="0" sz="3200" u="none" cap="none" strike="noStrike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888588e0da_0_91"/>
          <p:cNvSpPr txBox="1"/>
          <p:nvPr/>
        </p:nvSpPr>
        <p:spPr>
          <a:xfrm>
            <a:off x="8473275" y="8936175"/>
            <a:ext cx="832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888888"/>
                </a:solidFill>
              </a:rPr>
              <a:t>https://www.geeksforgeeks.org/tableau/tableau-join-databases/</a:t>
            </a:r>
            <a:endParaRPr b="0" i="0" sz="14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6" name="Google Shape;266;g3888588e0da_0_91" title="joi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62400" y="3080268"/>
            <a:ext cx="9125601" cy="5703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g37f1f15e37f_0_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7600" y="3238500"/>
            <a:ext cx="160527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g37f1f15e37f_0_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15900" y="-635000"/>
            <a:ext cx="27051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g37f1f15e37f_0_32"/>
          <p:cNvSpPr txBox="1"/>
          <p:nvPr/>
        </p:nvSpPr>
        <p:spPr>
          <a:xfrm>
            <a:off x="1221525" y="4401150"/>
            <a:ext cx="7610700" cy="10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7350" lvl="0" marL="45720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-US" sz="2500"/>
              <a:t>Fungsinya</a:t>
            </a:r>
            <a:r>
              <a:rPr lang="en-US" sz="2500"/>
              <a:t>: Menyatukan tabel dengan struktur kolom yang sama, menambah baris ke bawah.</a:t>
            </a:r>
            <a:endParaRPr sz="2500"/>
          </a:p>
        </p:txBody>
      </p:sp>
      <p:sp>
        <p:nvSpPr>
          <p:cNvPr id="274" name="Google Shape;274;g37f1f15e37f_0_32"/>
          <p:cNvSpPr txBox="1"/>
          <p:nvPr/>
        </p:nvSpPr>
        <p:spPr>
          <a:xfrm>
            <a:off x="1117600" y="3493963"/>
            <a:ext cx="7892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188038"/>
                </a:solidFill>
              </a:rPr>
              <a:t>Unions</a:t>
            </a:r>
            <a:endParaRPr b="1" i="0" sz="3200" u="none" cap="none" strike="noStrike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7f1f15e37f_0_32"/>
          <p:cNvSpPr txBox="1"/>
          <p:nvPr/>
        </p:nvSpPr>
        <p:spPr>
          <a:xfrm>
            <a:off x="8473275" y="8936175"/>
            <a:ext cx="832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888888"/>
                </a:solidFill>
              </a:rPr>
              <a:t>https://help.tableau.com/current/pro/desktop/en-us/union.htm</a:t>
            </a:r>
            <a:endParaRPr b="0" i="0" sz="14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g37f1f15e37f_0_32" title="union_new_uni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26325" y="0"/>
            <a:ext cx="6561674" cy="4623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g37f1f15e37f_0_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2050" y="6324376"/>
            <a:ext cx="8137949" cy="2459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g37f1f15e37f_0_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831401" y="4776076"/>
            <a:ext cx="7456610" cy="40076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" name="Google Shape;279;g37f1f15e37f_0_32"/>
          <p:cNvCxnSpPr/>
          <p:nvPr/>
        </p:nvCxnSpPr>
        <p:spPr>
          <a:xfrm flipH="1" rot="10800000">
            <a:off x="9176399" y="7544774"/>
            <a:ext cx="1488600" cy="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g37f1f15e37f_0_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7600" y="3238500"/>
            <a:ext cx="160527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g37f1f15e37f_0_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15900" y="-635000"/>
            <a:ext cx="27051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37f1f15e37f_0_42"/>
          <p:cNvSpPr txBox="1"/>
          <p:nvPr/>
        </p:nvSpPr>
        <p:spPr>
          <a:xfrm>
            <a:off x="1221525" y="4401150"/>
            <a:ext cx="7610700" cy="4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7350" lvl="0" marL="45720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-US" sz="2500"/>
              <a:t>Fungsinya: </a:t>
            </a:r>
            <a:r>
              <a:rPr lang="en-US" sz="2500"/>
              <a:t>Membersihkan data bawaan dari Excel atau CSV.</a:t>
            </a:r>
            <a:endParaRPr sz="2500"/>
          </a:p>
          <a:p>
            <a:pPr indent="-387350" lvl="0" marL="45720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-US" sz="2500"/>
              <a:t>Kegunaan:</a:t>
            </a:r>
            <a:endParaRPr b="1" sz="2500"/>
          </a:p>
          <a:p>
            <a:pPr indent="-387350" lvl="1" marL="91440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Deteksi header otomatis.</a:t>
            </a:r>
            <a:endParaRPr sz="2500"/>
          </a:p>
          <a:p>
            <a:pPr indent="-387350" lvl="1" marL="91440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Hilangkan baris kosong atau format tidak perlu.</a:t>
            </a:r>
            <a:endParaRPr sz="2500"/>
          </a:p>
          <a:p>
            <a:pPr indent="-387350" lvl="1" marL="91440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Membuat struktur tabel lebih rapi untuk analisis.</a:t>
            </a:r>
            <a:endParaRPr sz="2500"/>
          </a:p>
        </p:txBody>
      </p:sp>
      <p:sp>
        <p:nvSpPr>
          <p:cNvPr id="287" name="Google Shape;287;g37f1f15e37f_0_42"/>
          <p:cNvSpPr txBox="1"/>
          <p:nvPr/>
        </p:nvSpPr>
        <p:spPr>
          <a:xfrm>
            <a:off x="1117600" y="3493963"/>
            <a:ext cx="7892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188038"/>
                </a:solidFill>
              </a:rPr>
              <a:t>Data Interpreter</a:t>
            </a:r>
            <a:endParaRPr b="1" i="0" sz="3200" u="none" cap="none" strike="noStrike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7f1f15e37f_0_42"/>
          <p:cNvSpPr txBox="1"/>
          <p:nvPr/>
        </p:nvSpPr>
        <p:spPr>
          <a:xfrm>
            <a:off x="8473275" y="8936175"/>
            <a:ext cx="832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888888"/>
                </a:solidFill>
              </a:rPr>
              <a:t>https://help.tableau.com/current/pro/desktop/en-us/data_interpreter.htm</a:t>
            </a:r>
            <a:endParaRPr b="0" i="0" sz="14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g37f1f15e37f_0_42" title="di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84625" y="4983900"/>
            <a:ext cx="2885850" cy="176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g37f1f15e37f_0_42" title="di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53000" y="783175"/>
            <a:ext cx="9135000" cy="410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g37f1f15e37f_0_42" title="data_interpreter1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170475" y="4983900"/>
            <a:ext cx="4117537" cy="38578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g37f1f15e37f_0_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7600" y="3238500"/>
            <a:ext cx="160527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g37f1f15e37f_0_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15900" y="-635000"/>
            <a:ext cx="27051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g37f1f15e37f_0_68"/>
          <p:cNvSpPr txBox="1"/>
          <p:nvPr/>
        </p:nvSpPr>
        <p:spPr>
          <a:xfrm>
            <a:off x="1221525" y="4401150"/>
            <a:ext cx="7610700" cy="4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7350" lvl="0" marL="45720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-US" sz="2500"/>
              <a:t>Fungsinya</a:t>
            </a:r>
            <a:r>
              <a:rPr lang="en-US" sz="2500"/>
              <a:t>: Menentukan jenis data yang benar agar analisis tepat.</a:t>
            </a:r>
            <a:endParaRPr sz="2500"/>
          </a:p>
          <a:p>
            <a:pPr indent="-387350" lvl="0" marL="45720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-US" sz="2500"/>
              <a:t>Tipe umum</a:t>
            </a:r>
            <a:r>
              <a:rPr lang="en-US" sz="2500"/>
              <a:t>: String (teks), Number (integer/decimal), Date/DateTime, Boolean, Geographical (country, city, latitude/longitude).</a:t>
            </a:r>
            <a:endParaRPr sz="2500"/>
          </a:p>
          <a:p>
            <a:pPr indent="-387350" lvl="0" marL="45720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-US" sz="2500"/>
              <a:t>Contoh</a:t>
            </a:r>
            <a:r>
              <a:rPr lang="en-US" sz="2500"/>
              <a:t>: Pastikan kolom “Order Date” diubah menjadi Date agar bisa digunakan untuk visualisasi tren waktu.</a:t>
            </a:r>
            <a:endParaRPr sz="2500"/>
          </a:p>
          <a:p>
            <a:pPr indent="0" lvl="0" marL="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299" name="Google Shape;299;g37f1f15e37f_0_68"/>
          <p:cNvSpPr txBox="1"/>
          <p:nvPr/>
        </p:nvSpPr>
        <p:spPr>
          <a:xfrm>
            <a:off x="1117600" y="3493963"/>
            <a:ext cx="7892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188038"/>
                </a:solidFill>
              </a:rPr>
              <a:t>Data Types</a:t>
            </a:r>
            <a:endParaRPr b="1" i="0" sz="3200" u="none" cap="none" strike="noStrike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7f1f15e37f_0_68"/>
          <p:cNvSpPr txBox="1"/>
          <p:nvPr/>
        </p:nvSpPr>
        <p:spPr>
          <a:xfrm>
            <a:off x="8473275" y="8936175"/>
            <a:ext cx="832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888888"/>
                </a:solidFill>
              </a:rPr>
              <a:t>https://help.tableau.com/current/pro/desktop/en-us/data_dateparse.htm</a:t>
            </a:r>
            <a:endParaRPr b="0" i="0" sz="14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g37f1f15e37f_0_68" title="dateparse_typ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874500" y="3850912"/>
            <a:ext cx="2967550" cy="40980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37f1f15e37f_0_68"/>
          <p:cNvSpPr txBox="1"/>
          <p:nvPr/>
        </p:nvSpPr>
        <p:spPr>
          <a:xfrm>
            <a:off x="8477508" y="8535975"/>
            <a:ext cx="832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888888"/>
                </a:solidFill>
              </a:rPr>
              <a:t>https://help.tableau.com/current/prep/en-us/prep_explore.htm</a:t>
            </a:r>
            <a:endParaRPr b="0" i="0" sz="14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g38a5f699984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-114300" y="-3810000"/>
            <a:ext cx="18516600" cy="821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g38a5f699984_0_23"/>
          <p:cNvPicPr preferRelativeResize="0"/>
          <p:nvPr/>
        </p:nvPicPr>
        <p:blipFill rotWithShape="1">
          <a:blip r:embed="rId4">
            <a:alphaModFix amt="20000"/>
          </a:blip>
          <a:srcRect b="0" l="0" r="0" t="0"/>
          <a:stretch/>
        </p:blipFill>
        <p:spPr>
          <a:xfrm rot="10800000">
            <a:off x="888999" y="9512300"/>
            <a:ext cx="11087101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g38a5f699984_0_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215900" y="-635000"/>
            <a:ext cx="27051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38a5f699984_0_23"/>
          <p:cNvSpPr txBox="1"/>
          <p:nvPr/>
        </p:nvSpPr>
        <p:spPr>
          <a:xfrm>
            <a:off x="889000" y="1397000"/>
            <a:ext cx="173991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1" lang="en-US" sz="8500">
                <a:solidFill>
                  <a:srgbClr val="3A3685"/>
                </a:solidFill>
                <a:latin typeface="Archivo"/>
                <a:ea typeface="Archivo"/>
                <a:cs typeface="Archivo"/>
                <a:sym typeface="Archivo"/>
              </a:rPr>
              <a:t>Fundamental Perancangan Diagram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8a5f699984_0_23"/>
          <p:cNvSpPr txBox="1"/>
          <p:nvPr/>
        </p:nvSpPr>
        <p:spPr>
          <a:xfrm>
            <a:off x="889000" y="4790750"/>
            <a:ext cx="16242600" cy="41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7350" lvl="0" marL="457200" marR="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-US" sz="2500"/>
              <a:t>Dimension vs Measure</a:t>
            </a:r>
            <a:endParaRPr b="1" sz="2500"/>
          </a:p>
          <a:p>
            <a:pPr indent="-387350" lvl="0" marL="457200" marR="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-US" sz="2500"/>
              <a:t>Discrete vs Continuous</a:t>
            </a:r>
            <a:endParaRPr b="1" sz="2500"/>
          </a:p>
          <a:p>
            <a:pPr indent="-387350" lvl="0" marL="457200" marR="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-US" sz="2500"/>
              <a:t>Tipe Diagram Umum</a:t>
            </a:r>
            <a:endParaRPr b="1" sz="2500"/>
          </a:p>
          <a:p>
            <a:pPr indent="-387350" lvl="1" marL="914400" marR="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Bar chart → perbandingan antar kategori.</a:t>
            </a:r>
            <a:endParaRPr sz="2500"/>
          </a:p>
          <a:p>
            <a:pPr indent="-387350" lvl="1" marL="914400" marR="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Line chart → tren dari waktu ke waktu.</a:t>
            </a:r>
            <a:endParaRPr sz="2500"/>
          </a:p>
          <a:p>
            <a:pPr indent="-387350" lvl="1" marL="914400" marR="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Scatter plot → hubungan antar variabel (misalnya Sales vs Profit).</a:t>
            </a:r>
            <a:endParaRPr sz="2500"/>
          </a:p>
          <a:p>
            <a:pPr indent="-387350" lvl="1" marL="914400" marR="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Pie chart → komposisi, persentase bagian dari keseluruhan.</a:t>
            </a:r>
            <a:endParaRPr sz="2500"/>
          </a:p>
          <a:p>
            <a:pPr indent="-387350" lvl="1" marL="914400" marR="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Tree map → visualisasi hierarki/proporsi dengan ukuran kotak.</a:t>
            </a:r>
            <a:endParaRPr sz="2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g37f1f15e37f_0_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7600" y="3238500"/>
            <a:ext cx="160527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g37f1f15e37f_0_1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15900" y="-635000"/>
            <a:ext cx="27051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37f1f15e37f_0_117"/>
          <p:cNvSpPr txBox="1"/>
          <p:nvPr/>
        </p:nvSpPr>
        <p:spPr>
          <a:xfrm>
            <a:off x="1221525" y="4401150"/>
            <a:ext cx="8222400" cy="37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/>
              <a:t>Dimension → </a:t>
            </a:r>
            <a:r>
              <a:rPr lang="en-US" sz="2500"/>
              <a:t>data kategorikal/atribut, biasanya teks.</a:t>
            </a:r>
            <a:endParaRPr sz="2500"/>
          </a:p>
          <a:p>
            <a:pPr indent="0" lvl="0" marL="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/>
              <a:t>Contoh: Region, Product Category, Customer Name.</a:t>
            </a:r>
            <a:endParaRPr sz="2500"/>
          </a:p>
          <a:p>
            <a:pPr indent="0" lvl="0" marL="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500"/>
          </a:p>
          <a:p>
            <a:pPr indent="0" lvl="0" marL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/>
              <a:t>Measure </a:t>
            </a:r>
            <a:r>
              <a:rPr b="1" lang="en-US" sz="2500">
                <a:solidFill>
                  <a:schemeClr val="dk1"/>
                </a:solidFill>
              </a:rPr>
              <a:t>→</a:t>
            </a:r>
            <a:r>
              <a:rPr b="1" lang="en-US" sz="2500"/>
              <a:t> </a:t>
            </a:r>
            <a:r>
              <a:rPr lang="en-US" sz="2500"/>
              <a:t>data numerik yang bisa dihitung/diaggregasi.</a:t>
            </a:r>
            <a:endParaRPr sz="2500"/>
          </a:p>
          <a:p>
            <a:pPr indent="0" lvl="0" marL="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/>
              <a:t>Contoh: Sales, Profit, Quantity.</a:t>
            </a:r>
            <a:endParaRPr sz="2500"/>
          </a:p>
          <a:p>
            <a:pPr indent="0" lvl="0" marL="0" marR="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319" name="Google Shape;319;g37f1f15e37f_0_117"/>
          <p:cNvSpPr txBox="1"/>
          <p:nvPr/>
        </p:nvSpPr>
        <p:spPr>
          <a:xfrm>
            <a:off x="1117600" y="3493963"/>
            <a:ext cx="7892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188038"/>
                </a:solidFill>
              </a:rPr>
              <a:t>Dimension vs Measure</a:t>
            </a:r>
            <a:endParaRPr b="1" i="0" sz="3200" u="none" cap="none" strike="noStrike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37f1f15e37f_0_117"/>
          <p:cNvSpPr txBox="1"/>
          <p:nvPr/>
        </p:nvSpPr>
        <p:spPr>
          <a:xfrm>
            <a:off x="8473275" y="8936175"/>
            <a:ext cx="832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888888"/>
                </a:solidFill>
              </a:rPr>
              <a:t>https://help.tableau.com/current/pro/desktop/en-us/datafields_typesandroles.htm</a:t>
            </a:r>
            <a:endParaRPr b="0" i="0" sz="14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" name="Google Shape;321;g37f1f15e37f_0_1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27875" y="4401150"/>
            <a:ext cx="7542527" cy="17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g37f1f15e37f_0_1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7600" y="3238500"/>
            <a:ext cx="160527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g37f1f15e37f_0_1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15900" y="-635000"/>
            <a:ext cx="27051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g37f1f15e37f_0_128"/>
          <p:cNvSpPr txBox="1"/>
          <p:nvPr/>
        </p:nvSpPr>
        <p:spPr>
          <a:xfrm>
            <a:off x="1221525" y="4401150"/>
            <a:ext cx="8222400" cy="37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/>
              <a:t>Dimension → </a:t>
            </a:r>
            <a:r>
              <a:rPr lang="en-US" sz="2500"/>
              <a:t>data kategorikal/atribut, biasanya teks.</a:t>
            </a:r>
            <a:endParaRPr sz="2500"/>
          </a:p>
          <a:p>
            <a:pPr indent="0" lvl="0" marL="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Contoh: Region, Product Category, Customer Name.</a:t>
            </a:r>
            <a:endParaRPr sz="2500"/>
          </a:p>
          <a:p>
            <a:pPr indent="0" lvl="0" marL="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/>
              <a:t>Measure </a:t>
            </a:r>
            <a:r>
              <a:rPr b="1" lang="en-US" sz="2500">
                <a:solidFill>
                  <a:schemeClr val="dk1"/>
                </a:solidFill>
              </a:rPr>
              <a:t>→</a:t>
            </a:r>
            <a:r>
              <a:rPr b="1" lang="en-US" sz="2500"/>
              <a:t> </a:t>
            </a:r>
            <a:r>
              <a:rPr lang="en-US" sz="2500"/>
              <a:t>data numerik yang bisa dihitung/diaggregasi.</a:t>
            </a:r>
            <a:endParaRPr sz="2500"/>
          </a:p>
          <a:p>
            <a:pPr indent="0" lvl="0" marL="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Contoh: Sales, Profit, Quantity.</a:t>
            </a:r>
            <a:endParaRPr sz="2500"/>
          </a:p>
          <a:p>
            <a:pPr indent="0" lvl="0" marL="0" marR="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329" name="Google Shape;329;g37f1f15e37f_0_128"/>
          <p:cNvSpPr txBox="1"/>
          <p:nvPr/>
        </p:nvSpPr>
        <p:spPr>
          <a:xfrm>
            <a:off x="1117600" y="3493963"/>
            <a:ext cx="7892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188038"/>
                </a:solidFill>
              </a:rPr>
              <a:t>Discrete vs Continuous</a:t>
            </a:r>
            <a:endParaRPr b="1" i="0" sz="3200" u="none" cap="none" strike="noStrike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7f1f15e37f_0_128"/>
          <p:cNvSpPr txBox="1"/>
          <p:nvPr/>
        </p:nvSpPr>
        <p:spPr>
          <a:xfrm>
            <a:off x="8473275" y="8936175"/>
            <a:ext cx="832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888888"/>
                </a:solidFill>
              </a:rPr>
              <a:t>https://help.tableau.com/current/pro/desktop/en-us/datafields_typesandroles.htm</a:t>
            </a:r>
            <a:endParaRPr b="0" i="0" sz="14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" name="Google Shape;331;g37f1f15e37f_0_1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43925" y="4482100"/>
            <a:ext cx="8329201" cy="1978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g37f1f15e37f_0_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-114300" y="-3810000"/>
            <a:ext cx="18516600" cy="686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g37f1f15e37f_0_109"/>
          <p:cNvPicPr preferRelativeResize="0"/>
          <p:nvPr/>
        </p:nvPicPr>
        <p:blipFill rotWithShape="1">
          <a:blip r:embed="rId4">
            <a:alphaModFix amt="20000"/>
          </a:blip>
          <a:srcRect b="0" l="0" r="0" t="0"/>
          <a:stretch/>
        </p:blipFill>
        <p:spPr>
          <a:xfrm rot="10800000">
            <a:off x="888999" y="9512300"/>
            <a:ext cx="11087101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g37f1f15e37f_0_10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215900" y="-635000"/>
            <a:ext cx="27051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g37f1f15e37f_0_109"/>
          <p:cNvSpPr txBox="1"/>
          <p:nvPr/>
        </p:nvSpPr>
        <p:spPr>
          <a:xfrm>
            <a:off x="889000" y="1397000"/>
            <a:ext cx="173991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1" lang="en-US" sz="8500">
                <a:solidFill>
                  <a:srgbClr val="3A3685"/>
                </a:solidFill>
                <a:latin typeface="Archivo"/>
                <a:ea typeface="Archivo"/>
                <a:cs typeface="Archivo"/>
                <a:sym typeface="Archivo"/>
              </a:rPr>
              <a:t>Calculated Fields &amp; Analytics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7f1f15e37f_0_109"/>
          <p:cNvSpPr txBox="1"/>
          <p:nvPr/>
        </p:nvSpPr>
        <p:spPr>
          <a:xfrm>
            <a:off x="889000" y="3715650"/>
            <a:ext cx="16242600" cy="41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7350" lvl="0" marL="457200" marR="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-US" sz="2500"/>
              <a:t>Dimension vs Measure</a:t>
            </a:r>
            <a:endParaRPr b="1" sz="2500"/>
          </a:p>
          <a:p>
            <a:pPr indent="-387350" lvl="0" marL="457200" marR="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-US" sz="2500"/>
              <a:t>Discrete vs Continuous</a:t>
            </a:r>
            <a:endParaRPr b="1" sz="2500"/>
          </a:p>
          <a:p>
            <a:pPr indent="-387350" lvl="0" marL="457200" marR="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-US" sz="2500"/>
              <a:t>Tipe Diagram Umum</a:t>
            </a:r>
            <a:endParaRPr b="1" sz="2500"/>
          </a:p>
          <a:p>
            <a:pPr indent="-387350" lvl="1" marL="914400" marR="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Bar chart → perbandingan antar kategori.</a:t>
            </a:r>
            <a:endParaRPr sz="2500"/>
          </a:p>
          <a:p>
            <a:pPr indent="-387350" lvl="1" marL="914400" marR="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Line chart → tren dari waktu ke waktu.</a:t>
            </a:r>
            <a:endParaRPr sz="2500"/>
          </a:p>
          <a:p>
            <a:pPr indent="-387350" lvl="1" marL="914400" marR="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Scatter plot → hubungan antar variabel.</a:t>
            </a:r>
            <a:endParaRPr sz="2500"/>
          </a:p>
          <a:p>
            <a:pPr indent="-387350" lvl="1" marL="914400" marR="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Pie chart → komposisi, persentase bagian dari keseluruhan.</a:t>
            </a:r>
            <a:endParaRPr sz="2500"/>
          </a:p>
          <a:p>
            <a:pPr indent="-387350" lvl="1" marL="914400" marR="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Tree map → visualisasi hierarki/proporsi dengan ukuran kotak.</a:t>
            </a:r>
            <a:endParaRPr sz="2500"/>
          </a:p>
        </p:txBody>
      </p:sp>
      <p:sp>
        <p:nvSpPr>
          <p:cNvPr id="341" name="Google Shape;341;g37f1f15e37f_0_109"/>
          <p:cNvSpPr txBox="1"/>
          <p:nvPr/>
        </p:nvSpPr>
        <p:spPr>
          <a:xfrm>
            <a:off x="152400" y="1524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Kalau kita mau tahu tren penjualan tiap bulan, chart apa yang cocok?”</a:t>
            </a:r>
            <a:endParaRPr/>
          </a:p>
        </p:txBody>
      </p:sp>
      <p:sp>
        <p:nvSpPr>
          <p:cNvPr id="342" name="Google Shape;342;g37f1f15e37f_0_109"/>
          <p:cNvSpPr/>
          <p:nvPr/>
        </p:nvSpPr>
        <p:spPr>
          <a:xfrm>
            <a:off x="844675" y="4622563"/>
            <a:ext cx="9992400" cy="3171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80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g37f1f15e37f_0_1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7600" y="3238500"/>
            <a:ext cx="160527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g37f1f15e37f_0_1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15900" y="-635000"/>
            <a:ext cx="27051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g37f1f15e37f_0_136"/>
          <p:cNvSpPr txBox="1"/>
          <p:nvPr/>
        </p:nvSpPr>
        <p:spPr>
          <a:xfrm>
            <a:off x="1221525" y="4401150"/>
            <a:ext cx="8222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→ perbandingan antar kategori.</a:t>
            </a:r>
            <a:endParaRPr sz="25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350" name="Google Shape;350;g37f1f15e37f_0_136"/>
          <p:cNvSpPr txBox="1"/>
          <p:nvPr/>
        </p:nvSpPr>
        <p:spPr>
          <a:xfrm>
            <a:off x="1117600" y="3493963"/>
            <a:ext cx="7892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188038"/>
                </a:solidFill>
              </a:rPr>
              <a:t>Diagram:</a:t>
            </a:r>
            <a:r>
              <a:rPr b="1" lang="en-US" sz="3200">
                <a:solidFill>
                  <a:srgbClr val="188038"/>
                </a:solidFill>
              </a:rPr>
              <a:t> Bar Chart</a:t>
            </a:r>
            <a:endParaRPr b="1" i="0" sz="3200" u="none" cap="none" strike="noStrike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7f1f15e37f_0_136"/>
          <p:cNvSpPr txBox="1"/>
          <p:nvPr/>
        </p:nvSpPr>
        <p:spPr>
          <a:xfrm>
            <a:off x="8473275" y="8936175"/>
            <a:ext cx="832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888888"/>
                </a:solidFill>
              </a:rPr>
              <a:t>https://help.tableau.com/current/pro/desktop/en-us/buildexamples_bar.htm</a:t>
            </a:r>
            <a:endParaRPr b="0" i="0" sz="14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2" name="Google Shape;352;g37f1f15e37f_0_1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1525" y="5308325"/>
            <a:ext cx="7539026" cy="128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g37f1f15e37f_0_136" title="bar_2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61925" y="4277901"/>
            <a:ext cx="6854250" cy="424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g37f1f15e37f_0_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7600" y="3238500"/>
            <a:ext cx="160527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g37f1f15e37f_0_1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15900" y="-635000"/>
            <a:ext cx="27051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g37f1f15e37f_0_150"/>
          <p:cNvSpPr txBox="1"/>
          <p:nvPr/>
        </p:nvSpPr>
        <p:spPr>
          <a:xfrm>
            <a:off x="1221525" y="4401150"/>
            <a:ext cx="8222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→ </a:t>
            </a:r>
            <a:r>
              <a:rPr lang="en-US" sz="2500">
                <a:solidFill>
                  <a:schemeClr val="dk1"/>
                </a:solidFill>
              </a:rPr>
              <a:t>tren dari waktu ke waktu.</a:t>
            </a:r>
            <a:endParaRPr sz="25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361" name="Google Shape;361;g37f1f15e37f_0_150"/>
          <p:cNvSpPr txBox="1"/>
          <p:nvPr/>
        </p:nvSpPr>
        <p:spPr>
          <a:xfrm>
            <a:off x="1117600" y="3493963"/>
            <a:ext cx="7892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188038"/>
                </a:solidFill>
              </a:rPr>
              <a:t>Diagram:</a:t>
            </a:r>
            <a:r>
              <a:rPr b="1" lang="en-US" sz="3200">
                <a:solidFill>
                  <a:srgbClr val="188038"/>
                </a:solidFill>
              </a:rPr>
              <a:t> Line Chart</a:t>
            </a:r>
            <a:endParaRPr b="1" i="0" sz="3200" u="none" cap="none" strike="noStrike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g37f1f15e37f_0_150"/>
          <p:cNvSpPr txBox="1"/>
          <p:nvPr/>
        </p:nvSpPr>
        <p:spPr>
          <a:xfrm>
            <a:off x="8473275" y="8936175"/>
            <a:ext cx="832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888888"/>
                </a:solidFill>
              </a:rPr>
              <a:t>https://help.tableau.com/current/pro/desktop/en-us/buildexamples_line.htm</a:t>
            </a:r>
            <a:endParaRPr b="0" i="0" sz="14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3" name="Google Shape;363;g37f1f15e37f_0_150" title="line_1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20325" y="3923575"/>
            <a:ext cx="7381875" cy="43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g37f1f15e37f_0_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7600" y="3238500"/>
            <a:ext cx="160527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g37f1f15e37f_0_1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15900" y="-635000"/>
            <a:ext cx="27051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g37f1f15e37f_0_160"/>
          <p:cNvSpPr txBox="1"/>
          <p:nvPr/>
        </p:nvSpPr>
        <p:spPr>
          <a:xfrm>
            <a:off x="1221525" y="4401150"/>
            <a:ext cx="8222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→ </a:t>
            </a:r>
            <a:r>
              <a:rPr lang="en-US" sz="2500">
                <a:solidFill>
                  <a:schemeClr val="dk1"/>
                </a:solidFill>
              </a:rPr>
              <a:t>hubungan antar variabel (misalnya Sales vs Profit).</a:t>
            </a:r>
            <a:endParaRPr sz="25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371" name="Google Shape;371;g37f1f15e37f_0_160"/>
          <p:cNvSpPr txBox="1"/>
          <p:nvPr/>
        </p:nvSpPr>
        <p:spPr>
          <a:xfrm>
            <a:off x="1117600" y="3493963"/>
            <a:ext cx="7892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188038"/>
                </a:solidFill>
              </a:rPr>
              <a:t>Diagram:</a:t>
            </a:r>
            <a:r>
              <a:rPr b="1" lang="en-US" sz="3200">
                <a:solidFill>
                  <a:srgbClr val="188038"/>
                </a:solidFill>
              </a:rPr>
              <a:t> Scatter Plot</a:t>
            </a:r>
            <a:endParaRPr b="1" i="0" sz="3200" u="none" cap="none" strike="noStrike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7f1f15e37f_0_160"/>
          <p:cNvSpPr txBox="1"/>
          <p:nvPr/>
        </p:nvSpPr>
        <p:spPr>
          <a:xfrm>
            <a:off x="8473275" y="8936175"/>
            <a:ext cx="832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888888"/>
                </a:solidFill>
              </a:rPr>
              <a:t>https://help.tableau.com/current/pro/desktop/en-us/buildexamples_scatter.htm</a:t>
            </a:r>
            <a:endParaRPr b="0" i="0" sz="14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3" name="Google Shape;373;g37f1f15e37f_0_1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7600" y="5202244"/>
            <a:ext cx="7598674" cy="132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g37f1f15e37f_0_160" title="scatter_2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19825" y="4257375"/>
            <a:ext cx="6372225" cy="415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g37f1f15e37f_0_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7600" y="3238500"/>
            <a:ext cx="160527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g37f1f15e37f_0_1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15900" y="-635000"/>
            <a:ext cx="27051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g37f1f15e37f_0_170"/>
          <p:cNvSpPr txBox="1"/>
          <p:nvPr/>
        </p:nvSpPr>
        <p:spPr>
          <a:xfrm>
            <a:off x="1221525" y="4401150"/>
            <a:ext cx="8222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→ </a:t>
            </a:r>
            <a:r>
              <a:rPr lang="en-US" sz="2500">
                <a:solidFill>
                  <a:schemeClr val="dk1"/>
                </a:solidFill>
              </a:rPr>
              <a:t>komposisi, persentase bagian dari keseluruhan.</a:t>
            </a:r>
            <a:endParaRPr sz="25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382" name="Google Shape;382;g37f1f15e37f_0_170"/>
          <p:cNvSpPr txBox="1"/>
          <p:nvPr/>
        </p:nvSpPr>
        <p:spPr>
          <a:xfrm>
            <a:off x="1117600" y="3493963"/>
            <a:ext cx="7892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188038"/>
                </a:solidFill>
              </a:rPr>
              <a:t>Diagram:</a:t>
            </a:r>
            <a:r>
              <a:rPr b="1" lang="en-US" sz="3200">
                <a:solidFill>
                  <a:srgbClr val="188038"/>
                </a:solidFill>
              </a:rPr>
              <a:t> Pie Chart</a:t>
            </a:r>
            <a:endParaRPr b="1" i="0" sz="3200" u="none" cap="none" strike="noStrike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37f1f15e37f_0_170"/>
          <p:cNvSpPr txBox="1"/>
          <p:nvPr/>
        </p:nvSpPr>
        <p:spPr>
          <a:xfrm>
            <a:off x="8473275" y="8936175"/>
            <a:ext cx="832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888888"/>
                </a:solidFill>
              </a:rPr>
              <a:t>https://help.tableau.com/current/pro/desktop/en-us/buildexamples_pie.htm</a:t>
            </a:r>
            <a:endParaRPr b="0" i="0" sz="14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4" name="Google Shape;384;g37f1f15e37f_0_170" title="pie_3_10.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1533" y="5006350"/>
            <a:ext cx="8919542" cy="425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g37f1f15e37f_0_170" title="pie_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20725" y="3596025"/>
            <a:ext cx="1984492" cy="5028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g37f1f15e37f_0_1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7600" y="3238500"/>
            <a:ext cx="160527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g37f1f15e37f_0_1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15900" y="-635000"/>
            <a:ext cx="27051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g37f1f15e37f_0_180"/>
          <p:cNvSpPr txBox="1"/>
          <p:nvPr/>
        </p:nvSpPr>
        <p:spPr>
          <a:xfrm>
            <a:off x="1221525" y="4401150"/>
            <a:ext cx="82224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→ </a:t>
            </a:r>
            <a:r>
              <a:rPr lang="en-US" sz="2500">
                <a:solidFill>
                  <a:schemeClr val="dk1"/>
                </a:solidFill>
              </a:rPr>
              <a:t>visualisasi hierarki/proporsi dengan ukuran kotak.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Jenis tanda: Otomatis atau Persegi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Warna: Dimensi atau Ukuran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Ukuran: Ukuran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Label atau Detail: Dimensi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337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393" name="Google Shape;393;g37f1f15e37f_0_180"/>
          <p:cNvSpPr txBox="1"/>
          <p:nvPr/>
        </p:nvSpPr>
        <p:spPr>
          <a:xfrm>
            <a:off x="1117600" y="3493963"/>
            <a:ext cx="7892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188038"/>
                </a:solidFill>
              </a:rPr>
              <a:t>Diagram:</a:t>
            </a:r>
            <a:r>
              <a:rPr b="1" lang="en-US" sz="3200">
                <a:solidFill>
                  <a:srgbClr val="188038"/>
                </a:solidFill>
              </a:rPr>
              <a:t> Tree Map</a:t>
            </a:r>
            <a:endParaRPr b="1" i="0" sz="3200" u="none" cap="none" strike="noStrike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g37f1f15e37f_0_180"/>
          <p:cNvSpPr txBox="1"/>
          <p:nvPr/>
        </p:nvSpPr>
        <p:spPr>
          <a:xfrm>
            <a:off x="8473275" y="8936175"/>
            <a:ext cx="832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888888"/>
                </a:solidFill>
              </a:rPr>
              <a:t>https://help.tableau.com/current/pro/desktop/en-us/buildexamples_treemap.htm</a:t>
            </a:r>
            <a:endParaRPr b="0" i="0" sz="14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5" name="Google Shape;395;g37f1f15e37f_0_180" title="tree_4_10.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15400" y="3729613"/>
            <a:ext cx="6998778" cy="434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g37f1f15e37f_0_180" title="tree_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219566" y="3729625"/>
            <a:ext cx="1667309" cy="434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g37f1f15e37f_0_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-114300" y="-3810000"/>
            <a:ext cx="18516600" cy="802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g37f1f15e37f_0_90"/>
          <p:cNvPicPr preferRelativeResize="0"/>
          <p:nvPr/>
        </p:nvPicPr>
        <p:blipFill rotWithShape="1">
          <a:blip r:embed="rId5">
            <a:alphaModFix amt="20000"/>
          </a:blip>
          <a:srcRect b="0" l="0" r="0" t="0"/>
          <a:stretch/>
        </p:blipFill>
        <p:spPr>
          <a:xfrm rot="10800000">
            <a:off x="888999" y="9512300"/>
            <a:ext cx="11087101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g37f1f15e37f_0_9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215900" y="-635000"/>
            <a:ext cx="27051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g37f1f15e37f_0_90"/>
          <p:cNvSpPr txBox="1"/>
          <p:nvPr/>
        </p:nvSpPr>
        <p:spPr>
          <a:xfrm>
            <a:off x="889000" y="1397000"/>
            <a:ext cx="1739910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1" lang="en-US" sz="8500">
                <a:solidFill>
                  <a:srgbClr val="3A3685"/>
                </a:solidFill>
                <a:latin typeface="Archivo"/>
                <a:ea typeface="Archivo"/>
                <a:cs typeface="Archivo"/>
                <a:sym typeface="Archivo"/>
              </a:rPr>
              <a:t>Kapan menggunakan</a:t>
            </a:r>
            <a:r>
              <a:rPr b="1" lang="en-US" sz="8500">
                <a:solidFill>
                  <a:srgbClr val="3A3685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b="1" sz="8500">
              <a:solidFill>
                <a:srgbClr val="3A368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1" lang="en-US" sz="8500">
                <a:solidFill>
                  <a:srgbClr val="3A3685"/>
                </a:solidFill>
                <a:latin typeface="Archivo"/>
                <a:ea typeface="Archivo"/>
                <a:cs typeface="Archivo"/>
                <a:sym typeface="Archivo"/>
              </a:rPr>
              <a:t>Python vs Tableau?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g37f1f15e37f_0_90"/>
          <p:cNvSpPr txBox="1"/>
          <p:nvPr/>
        </p:nvSpPr>
        <p:spPr>
          <a:xfrm>
            <a:off x="996000" y="4804938"/>
            <a:ext cx="7892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188038"/>
                </a:solidFill>
              </a:rPr>
              <a:t>Python</a:t>
            </a:r>
            <a:endParaRPr b="1" i="0" sz="3200" u="none" cap="none" strike="noStrike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37f1f15e37f_0_90"/>
          <p:cNvSpPr txBox="1"/>
          <p:nvPr/>
        </p:nvSpPr>
        <p:spPr>
          <a:xfrm>
            <a:off x="9599725" y="4804938"/>
            <a:ext cx="7892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188038"/>
                </a:solidFill>
              </a:rPr>
              <a:t>Tableau</a:t>
            </a:r>
            <a:endParaRPr b="1" i="0" sz="3200" u="none" cap="none" strike="noStrike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g37f1f15e37f_0_90"/>
          <p:cNvSpPr txBox="1"/>
          <p:nvPr/>
        </p:nvSpPr>
        <p:spPr>
          <a:xfrm>
            <a:off x="1128950" y="5810901"/>
            <a:ext cx="78924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Data cleaning &amp; preprocessing kompleks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Analisis statistik lanjut / Machine Learning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Feature engineering (bikin variabel baru)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Big data processing (scalable)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Contoh: prediksi harga, NLP, clustering</a:t>
            </a:r>
            <a:endParaRPr sz="2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</a:rPr>
              <a:t>→ Untuk data prep berat + advanced analysis</a:t>
            </a:r>
            <a:endParaRPr b="1" sz="2500">
              <a:solidFill>
                <a:schemeClr val="dk1"/>
              </a:solidFill>
            </a:endParaRPr>
          </a:p>
        </p:txBody>
      </p:sp>
      <p:sp>
        <p:nvSpPr>
          <p:cNvPr id="408" name="Google Shape;408;g37f1f15e37f_0_90"/>
          <p:cNvSpPr txBox="1"/>
          <p:nvPr/>
        </p:nvSpPr>
        <p:spPr>
          <a:xfrm>
            <a:off x="9390700" y="5810913"/>
            <a:ext cx="78924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Perhitungan cepat langsung di dashboard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Agregasi sederhana (SUM, AVG, COUNT)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Quick calculation (Running total, % of total)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Kalkulasi ringan untuk eksplorasi visual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Contoh: Profit Margin = Profit / Sales</a:t>
            </a:r>
            <a:endParaRPr sz="2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</a:rPr>
              <a:t>→ Untuk explorasi cepat + kalkulasi sederhana di visualisasi</a:t>
            </a:r>
            <a:endParaRPr b="1"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AF69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86100" y="-698500"/>
            <a:ext cx="1625600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2400" y="1562100"/>
            <a:ext cx="2235200" cy="248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500600" y="3975100"/>
            <a:ext cx="38100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852900" y="4140200"/>
            <a:ext cx="14351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10800000">
            <a:off x="419100" y="6489700"/>
            <a:ext cx="12192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10800000">
            <a:off x="-165100" y="6299200"/>
            <a:ext cx="14351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6019800" y="2171700"/>
            <a:ext cx="5969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256000" y="5283200"/>
            <a:ext cx="622300" cy="62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-5400000">
            <a:off x="1790700" y="8267700"/>
            <a:ext cx="622300" cy="1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-5400000">
            <a:off x="10858500" y="863600"/>
            <a:ext cx="5969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-5400000">
            <a:off x="11074400" y="1143000"/>
            <a:ext cx="596900" cy="13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7"/>
          <p:cNvSpPr txBox="1"/>
          <p:nvPr/>
        </p:nvSpPr>
        <p:spPr>
          <a:xfrm>
            <a:off x="3657600" y="4445000"/>
            <a:ext cx="11303000" cy="12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lang="en-US" sz="70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Break 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5" name="Google Shape;425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978400" y="6908800"/>
            <a:ext cx="5207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 rot="5400000">
            <a:off x="6248400" y="2374900"/>
            <a:ext cx="571500" cy="5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6002000" y="5651500"/>
            <a:ext cx="5207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168900" y="7099300"/>
            <a:ext cx="4445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3322300" y="7061200"/>
            <a:ext cx="2349500" cy="234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2946400" y="8204200"/>
            <a:ext cx="2819400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12800" y="0"/>
            <a:ext cx="1498600" cy="14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-177800" y="-63500"/>
            <a:ext cx="1663700" cy="1663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7"/>
          <p:cNvSpPr txBox="1"/>
          <p:nvPr/>
        </p:nvSpPr>
        <p:spPr>
          <a:xfrm>
            <a:off x="3492450" y="5753050"/>
            <a:ext cx="11303100" cy="7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lang="en-US" sz="32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(5 menit)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AF69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g38367142df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86100" y="-698500"/>
            <a:ext cx="1625600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g38367142df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2400" y="1562100"/>
            <a:ext cx="2235200" cy="248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g38367142df4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500600" y="3975100"/>
            <a:ext cx="38100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g38367142df4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852900" y="4140200"/>
            <a:ext cx="14351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g38367142df4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10800000">
            <a:off x="419100" y="6489700"/>
            <a:ext cx="12192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g38367142df4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10800000">
            <a:off x="-165100" y="6299200"/>
            <a:ext cx="14351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g38367142df4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6019800" y="2171700"/>
            <a:ext cx="5969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g38367142df4_0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256000" y="5283200"/>
            <a:ext cx="622300" cy="62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g38367142df4_0_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-5400000">
            <a:off x="1790700" y="8267700"/>
            <a:ext cx="622300" cy="1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g38367142df4_0_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-5400000">
            <a:off x="10858500" y="863600"/>
            <a:ext cx="5969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g38367142df4_0_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-5400000">
            <a:off x="11074400" y="1143000"/>
            <a:ext cx="596900" cy="13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g38367142df4_0_0"/>
          <p:cNvSpPr txBox="1"/>
          <p:nvPr/>
        </p:nvSpPr>
        <p:spPr>
          <a:xfrm>
            <a:off x="3657600" y="4445000"/>
            <a:ext cx="113031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Hands-On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0" name="Google Shape;450;g38367142df4_0_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978400" y="6908800"/>
            <a:ext cx="5207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g38367142df4_0_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 rot="5400000">
            <a:off x="6248400" y="2374900"/>
            <a:ext cx="571500" cy="5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g38367142df4_0_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6002000" y="5651500"/>
            <a:ext cx="5207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g38367142df4_0_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168900" y="7099300"/>
            <a:ext cx="4445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g38367142df4_0_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3322300" y="7061200"/>
            <a:ext cx="2349500" cy="234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g38367142df4_0_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2946400" y="8204200"/>
            <a:ext cx="2819400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g38367142df4_0_0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12800" y="0"/>
            <a:ext cx="1498600" cy="14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g38367142df4_0_0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-177800" y="-63500"/>
            <a:ext cx="1663700" cy="166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g37f1f15e37f_0_243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 rot="10800000">
            <a:off x="888999" y="9512300"/>
            <a:ext cx="11087101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g37f1f15e37f_0_2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15900" y="-635000"/>
            <a:ext cx="27051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g37f1f15e37f_0_243"/>
          <p:cNvSpPr txBox="1"/>
          <p:nvPr/>
        </p:nvSpPr>
        <p:spPr>
          <a:xfrm>
            <a:off x="889000" y="1552525"/>
            <a:ext cx="17399100" cy="11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1" lang="en-US" sz="4800">
                <a:solidFill>
                  <a:srgbClr val="3A3685"/>
                </a:solidFill>
                <a:latin typeface="Archivo"/>
                <a:ea typeface="Archivo"/>
                <a:cs typeface="Archivo"/>
                <a:sym typeface="Archivo"/>
              </a:rPr>
              <a:t>Hand-On Practice: Tableau Fundamentals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g37f1f15e37f_0_243"/>
          <p:cNvSpPr txBox="1"/>
          <p:nvPr/>
        </p:nvSpPr>
        <p:spPr>
          <a:xfrm>
            <a:off x="889000" y="2682625"/>
            <a:ext cx="16333800" cy="57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eriod"/>
            </a:pPr>
            <a:r>
              <a:rPr b="1" lang="en-US" sz="3200">
                <a:solidFill>
                  <a:schemeClr val="dk1"/>
                </a:solidFill>
              </a:rPr>
              <a:t>Hubungkan Tableau &amp; Import Dataset</a:t>
            </a:r>
            <a:endParaRPr b="1" sz="32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Buka Tableau Desktop/Public.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Klik Connect → To a File → CSV/Excel.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Pilih dataset hasil Python cleaning. (</a:t>
            </a:r>
            <a:r>
              <a:rPr lang="en-US" sz="2500" u="sng">
                <a:solidFill>
                  <a:schemeClr val="hlink"/>
                </a:solidFill>
                <a:hlinkClick r:id="rId5"/>
              </a:rPr>
              <a:t>download here</a:t>
            </a:r>
            <a:r>
              <a:rPr lang="en-US" sz="2500">
                <a:solidFill>
                  <a:schemeClr val="dk1"/>
                </a:solidFill>
              </a:rPr>
              <a:t>)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Pastikan data terbaca di Data Source View.</a:t>
            </a:r>
            <a:endParaRPr sz="2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eriod"/>
            </a:pPr>
            <a:r>
              <a:rPr b="1" lang="en-US" sz="3200">
                <a:solidFill>
                  <a:schemeClr val="dk1"/>
                </a:solidFill>
              </a:rPr>
              <a:t>Eksplorasi Dataset</a:t>
            </a:r>
            <a:endParaRPr b="1" sz="32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Periksa daftar field di panel kiri.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Verifikasi tipe data:</a:t>
            </a:r>
            <a:endParaRPr sz="2500">
              <a:solidFill>
                <a:schemeClr val="dk1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n-US" sz="2500">
                <a:solidFill>
                  <a:schemeClr val="dk1"/>
                </a:solidFill>
              </a:rPr>
              <a:t>Angka → Number (Measure)</a:t>
            </a:r>
            <a:endParaRPr sz="2500">
              <a:solidFill>
                <a:schemeClr val="dk1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n-US" sz="2500">
                <a:solidFill>
                  <a:schemeClr val="dk1"/>
                </a:solidFill>
              </a:rPr>
              <a:t>Kategori → String (Dimension)</a:t>
            </a:r>
            <a:endParaRPr sz="2500">
              <a:solidFill>
                <a:schemeClr val="dk1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n-US" sz="2500">
                <a:solidFill>
                  <a:schemeClr val="dk1"/>
                </a:solidFill>
              </a:rPr>
              <a:t>Tanggal → Date/DateTime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Ubah tipe jika salah (klik ikon → pilih tipe yang benar).</a:t>
            </a:r>
            <a:endParaRPr sz="2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g37f1f15e37f_0_258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 rot="10800000">
            <a:off x="888999" y="9512300"/>
            <a:ext cx="11087101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g37f1f15e37f_0_2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15900" y="-635000"/>
            <a:ext cx="27051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g37f1f15e37f_0_258"/>
          <p:cNvSpPr txBox="1"/>
          <p:nvPr/>
        </p:nvSpPr>
        <p:spPr>
          <a:xfrm>
            <a:off x="889000" y="1552525"/>
            <a:ext cx="17399100" cy="11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1" lang="en-US" sz="4800">
                <a:solidFill>
                  <a:srgbClr val="3A3685"/>
                </a:solidFill>
                <a:latin typeface="Archivo"/>
                <a:ea typeface="Archivo"/>
                <a:cs typeface="Archivo"/>
                <a:sym typeface="Archivo"/>
              </a:rPr>
              <a:t>Hand-On Practice: Tableau Fundamentals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37f1f15e37f_0_258"/>
          <p:cNvSpPr txBox="1"/>
          <p:nvPr/>
        </p:nvSpPr>
        <p:spPr>
          <a:xfrm>
            <a:off x="889000" y="2682625"/>
            <a:ext cx="16333800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3. Perancangan Diagram Sederhana</a:t>
            </a:r>
            <a:endParaRPr b="1" sz="32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Bar chart: Drag Category ke Columns, Sales ke Rows.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Line chart: Drag Order Date (Continuous) ke Columns, Sales ke Rows.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Scatter plot: Drag Sales ke Columns, Profit ke Rows.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Pie chart: Drag Category ke Color, Sales ke Angle.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Tree map: Drag Sub-Category ke Label, Sales ke Size.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Tambahkan: judul, legend, color coding, sorting (ikon sort di toolbar).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</a:rPr>
              <a:t>4. Calculated Fields &amp; Quick Analytics</a:t>
            </a:r>
            <a:endParaRPr b="1" sz="32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Calculated Field:</a:t>
            </a:r>
            <a:endParaRPr sz="2500">
              <a:solidFill>
                <a:schemeClr val="dk1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n-US" sz="2500">
                <a:solidFill>
                  <a:schemeClr val="dk1"/>
                </a:solidFill>
              </a:rPr>
              <a:t>Klik kanan → Create Calculated Field → buat Profit Margin = [Profit] / [Sales].</a:t>
            </a:r>
            <a:endParaRPr sz="2500">
              <a:solidFill>
                <a:schemeClr val="dk1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n-US" sz="2500">
                <a:solidFill>
                  <a:schemeClr val="dk1"/>
                </a:solidFill>
              </a:rPr>
              <a:t>Buat juga Sales per Customer = [Sales] / [Customer Count].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Quick Table Calculation:</a:t>
            </a:r>
            <a:endParaRPr sz="2500">
              <a:solidFill>
                <a:schemeClr val="dk1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n-US" sz="2500">
                <a:solidFill>
                  <a:schemeClr val="dk1"/>
                </a:solidFill>
              </a:rPr>
              <a:t>Klik kanan Sales → Quick Table Calc → pilih Running Total, Moving Average, atau Percent of Total.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g37f1f15e37f_0_267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 rot="10800000">
            <a:off x="888999" y="9512300"/>
            <a:ext cx="11087101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g37f1f15e37f_0_2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15900" y="-635000"/>
            <a:ext cx="27051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g37f1f15e37f_0_267"/>
          <p:cNvSpPr txBox="1"/>
          <p:nvPr/>
        </p:nvSpPr>
        <p:spPr>
          <a:xfrm>
            <a:off x="889000" y="1552525"/>
            <a:ext cx="17399100" cy="11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1" lang="en-US" sz="4800">
                <a:solidFill>
                  <a:srgbClr val="3A3685"/>
                </a:solidFill>
                <a:latin typeface="Archivo"/>
                <a:ea typeface="Archivo"/>
                <a:cs typeface="Archivo"/>
                <a:sym typeface="Archivo"/>
              </a:rPr>
              <a:t>Hand-On Practice: Tableau Fundamentals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37f1f15e37f_0_267"/>
          <p:cNvSpPr txBox="1"/>
          <p:nvPr/>
        </p:nvSpPr>
        <p:spPr>
          <a:xfrm>
            <a:off x="889000" y="2682625"/>
            <a:ext cx="16333800" cy="46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5. Filter</a:t>
            </a:r>
            <a:endParaRPr b="1" sz="32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Drag Product Name ke Filters.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Pilih Top N → Top 10 by Sales.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Tampilkan hanya 10 produk dengan penjualan tertinggi.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6. Analytics Enhancement</a:t>
            </a:r>
            <a:endParaRPr b="1" sz="32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Tambahkan Trend Line: ke scatter plot → Analytics Pane → drag Trend Line.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Tambahkan Reference Line: ke bar chart → Analytics Pane → Average Line.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Tambahkan Average label untuk perbandingan cepat.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Google Shape;486;g37f1f15e37f_0_276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 rot="10800000">
            <a:off x="888999" y="9512300"/>
            <a:ext cx="11087101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g37f1f15e37f_0_2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15900" y="-635000"/>
            <a:ext cx="27051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g37f1f15e37f_0_276"/>
          <p:cNvSpPr txBox="1"/>
          <p:nvPr/>
        </p:nvSpPr>
        <p:spPr>
          <a:xfrm>
            <a:off x="889000" y="1552525"/>
            <a:ext cx="17399100" cy="11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1" lang="en-US" sz="4800">
                <a:solidFill>
                  <a:srgbClr val="3A3685"/>
                </a:solidFill>
                <a:latin typeface="Archivo"/>
                <a:ea typeface="Archivo"/>
                <a:cs typeface="Archivo"/>
                <a:sym typeface="Archivo"/>
              </a:rPr>
              <a:t>Hand-On Practice: Tableau Fundamentals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g37f1f15e37f_0_276"/>
          <p:cNvSpPr txBox="1"/>
          <p:nvPr/>
        </p:nvSpPr>
        <p:spPr>
          <a:xfrm>
            <a:off x="889000" y="2682625"/>
            <a:ext cx="16333800" cy="5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7. Mini Dashboard</a:t>
            </a:r>
            <a:endParaRPr b="1" sz="32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Klik tab New Dashboard.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Drag 2–3 diagram (misalnya bar chart, line chart, scatter plot).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Atur layout agar tidak terlalu padat.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8. Interaktivitas &amp; Desain</a:t>
            </a:r>
            <a:endParaRPr b="1" sz="32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Tambahkan Filter Action: pilih salah satu chart → gunakan sebagai filter.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Tambahkan Grouping: gabungkan kategori mirip.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Update desain: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Tambahkan judul dashboard.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Gunakan palet warna konsisten.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Atur spacing (beri jarak antar visualisasi).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9180000">
            <a:off x="-4229100" y="-215900"/>
            <a:ext cx="10350500" cy="533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28300" y="-698500"/>
            <a:ext cx="10287000" cy="1046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73100" y="2730500"/>
            <a:ext cx="3276600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73100" y="6388100"/>
            <a:ext cx="32766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16"/>
          <p:cNvSpPr txBox="1"/>
          <p:nvPr/>
        </p:nvSpPr>
        <p:spPr>
          <a:xfrm>
            <a:off x="13843000" y="6489700"/>
            <a:ext cx="23368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3A3685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Contact 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9" name="Google Shape;49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804900" y="3162300"/>
            <a:ext cx="240030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16"/>
          <p:cNvSpPr txBox="1"/>
          <p:nvPr/>
        </p:nvSpPr>
        <p:spPr>
          <a:xfrm>
            <a:off x="838200" y="1727200"/>
            <a:ext cx="11404600" cy="4025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0"/>
              <a:buFont typeface="Arial"/>
              <a:buNone/>
            </a:pPr>
            <a:r>
              <a:rPr b="1" i="0" lang="en-US" sz="13200" u="none" cap="none" strike="noStrike">
                <a:solidFill>
                  <a:srgbClr val="3A3685"/>
                </a:solidFill>
                <a:latin typeface="Archivo"/>
                <a:ea typeface="Archivo"/>
                <a:cs typeface="Archivo"/>
                <a:sym typeface="Archivo"/>
              </a:rPr>
              <a:t>Any Question?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8200" y="7048500"/>
            <a:ext cx="5295900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16"/>
          <p:cNvSpPr txBox="1"/>
          <p:nvPr/>
        </p:nvSpPr>
        <p:spPr>
          <a:xfrm>
            <a:off x="1219200" y="7200900"/>
            <a:ext cx="2108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Presented 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6"/>
          <p:cNvSpPr txBox="1"/>
          <p:nvPr/>
        </p:nvSpPr>
        <p:spPr>
          <a:xfrm>
            <a:off x="3581400" y="7213600"/>
            <a:ext cx="17653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Nama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4" name="Google Shape;50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8200" y="7950200"/>
            <a:ext cx="5295900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16"/>
          <p:cNvSpPr txBox="1"/>
          <p:nvPr/>
        </p:nvSpPr>
        <p:spPr>
          <a:xfrm>
            <a:off x="1219200" y="8064500"/>
            <a:ext cx="1409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Email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6"/>
          <p:cNvSpPr txBox="1"/>
          <p:nvPr/>
        </p:nvSpPr>
        <p:spPr>
          <a:xfrm>
            <a:off x="3581400" y="8077200"/>
            <a:ext cx="20701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Email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7" name="Google Shape;50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10800000">
            <a:off x="8293100" y="7175500"/>
            <a:ext cx="4483100" cy="469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8200" y="8801100"/>
            <a:ext cx="5295900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-215900" y="-635000"/>
            <a:ext cx="27051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16"/>
          <p:cNvSpPr txBox="1"/>
          <p:nvPr/>
        </p:nvSpPr>
        <p:spPr>
          <a:xfrm>
            <a:off x="1219200" y="8928100"/>
            <a:ext cx="1409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Call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6"/>
          <p:cNvSpPr txBox="1"/>
          <p:nvPr/>
        </p:nvSpPr>
        <p:spPr>
          <a:xfrm>
            <a:off x="3556000" y="8940800"/>
            <a:ext cx="25273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+62 0000000000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93A78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1400" y="3213100"/>
            <a:ext cx="35052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812800" y="1816100"/>
            <a:ext cx="1765300" cy="176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802100" y="4165600"/>
            <a:ext cx="3416300" cy="34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215900" y="-635000"/>
            <a:ext cx="27051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17"/>
          <p:cNvSpPr txBox="1"/>
          <p:nvPr/>
        </p:nvSpPr>
        <p:spPr>
          <a:xfrm>
            <a:off x="1663700" y="3937000"/>
            <a:ext cx="14960600" cy="2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0"/>
              <a:buFont typeface="Arial"/>
              <a:buNone/>
            </a:pPr>
            <a:r>
              <a:rPr b="1" i="0" lang="en-US" sz="14500" u="none" cap="none" strike="noStrike">
                <a:solidFill>
                  <a:srgbClr val="38AF69"/>
                </a:solidFill>
                <a:latin typeface="Archivo"/>
                <a:ea typeface="Archivo"/>
                <a:cs typeface="Archivo"/>
                <a:sym typeface="Archivo"/>
              </a:rPr>
              <a:t>Terima Kasih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1" name="Google Shape;52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2800" y="0"/>
            <a:ext cx="1498600" cy="1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